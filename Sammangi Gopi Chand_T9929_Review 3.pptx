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147470489" r:id="rId2"/>
    <p:sldId id="2147470492" r:id="rId3"/>
    <p:sldId id="2147470493" r:id="rId4"/>
    <p:sldId id="2147470487" r:id="rId5"/>
    <p:sldId id="2147470494" r:id="rId6"/>
    <p:sldId id="2147470501" r:id="rId7"/>
    <p:sldId id="2147470498" r:id="rId8"/>
    <p:sldId id="2147470497" r:id="rId9"/>
    <p:sldId id="2147470499" r:id="rId10"/>
    <p:sldId id="2147470502" r:id="rId11"/>
    <p:sldId id="2147470503" r:id="rId12"/>
    <p:sldId id="2147470504" r:id="rId13"/>
    <p:sldId id="2147470505" r:id="rId14"/>
    <p:sldId id="2147470506" r:id="rId15"/>
    <p:sldId id="2147470507" r:id="rId16"/>
    <p:sldId id="2147470508" r:id="rId17"/>
    <p:sldId id="2147470509" r:id="rId18"/>
    <p:sldId id="2147470510" r:id="rId19"/>
    <p:sldId id="2147470511" r:id="rId20"/>
    <p:sldId id="2147470512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FFFF"/>
    <a:srgbClr val="25B9ED"/>
    <a:srgbClr val="47BDAE"/>
    <a:srgbClr val="30BBDA"/>
    <a:srgbClr val="47BDAF"/>
    <a:srgbClr val="696969"/>
    <a:srgbClr val="1C4D98"/>
    <a:srgbClr val="8BC431"/>
    <a:srgbClr val="97B6BA"/>
    <a:srgbClr val="24A8E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slide" Target="slide18.xml"/><Relationship Id="rId3" Type="http://schemas.openxmlformats.org/officeDocument/2006/relationships/slide" Target="slide13.xml"/><Relationship Id="rId7" Type="http://schemas.openxmlformats.org/officeDocument/2006/relationships/slide" Target="slide17.xml"/><Relationship Id="rId2" Type="http://schemas.openxmlformats.org/officeDocument/2006/relationships/slide" Target="slide12.xml"/><Relationship Id="rId1" Type="http://schemas.openxmlformats.org/officeDocument/2006/relationships/slideLayout" Target="../slideLayouts/slideLayout12.xml"/><Relationship Id="rId6" Type="http://schemas.openxmlformats.org/officeDocument/2006/relationships/slide" Target="slide19.xml"/><Relationship Id="rId5" Type="http://schemas.openxmlformats.org/officeDocument/2006/relationships/slide" Target="slide15.xml"/><Relationship Id="rId4" Type="http://schemas.openxmlformats.org/officeDocument/2006/relationships/slide" Target="slide14.xml"/><Relationship Id="rId9" Type="http://schemas.openxmlformats.org/officeDocument/2006/relationships/slide" Target="slide1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" Target="slide4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rgbClr val="FFFFFF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rgbClr val="FFFFFF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59822"/>
            <a:ext cx="11428184" cy="3770263"/>
          </a:xfrm>
          <a:prstGeom prst="rect">
            <a:avLst/>
          </a:prstGeom>
          <a:noFill/>
        </p:spPr>
        <p:txBody>
          <a:bodyPr wrap="square" lIns="63500" tIns="38100" rIns="63500" bIns="3810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REVIEW III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Candidate Search and Filtering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Recruiter and Interviewer Workflow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GB" sz="2400" b="1" dirty="0">
              <a:solidFill>
                <a:srgbClr val="FFFFFF"/>
              </a:solidFill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Presenting By: 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Sammangi Gopi Chand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T9929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GB" sz="2400" b="1" dirty="0">
                <a:solidFill>
                  <a:srgbClr val="FFFFFF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Vellore Institute of Technology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Calibri" panose="020F0502020204030204" pitchFamily="34" charset="0"/>
            </a:endParaRP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820BA44-62A1-1C60-C348-DC0E7C5DEB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0236" y="5852667"/>
            <a:ext cx="2338112" cy="9755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7726612-73E0-5A94-F635-3A742DD5BA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Recruitment support workspace for recruiters and interviewers.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Recruiters convert vacancy descriptions into structured job requirements.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Resume evidence is organized and compared with each job profile.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Interviewers receive contextual questions and a consistent evaluation checklist.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The system prepares evidence; people make recruitment decisions.</a:t>
            </a:r>
            <a:endParaRPr lang="en-US" sz="17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17548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Introduction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551BF-43EB-C049-6D3B-4D17D577529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Reduce repetitive reading by extracting structured job and candidate profiles.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Compare required and preferred skills, education, and experience evidence.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Show relevant employment evidence and uncertainty for recruiter review.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Support interviewers with role-specific questions and observable criteria.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Preserve human control over shortlisting and final hiring decisions.</a:t>
            </a:r>
            <a:endParaRPr lang="en-US" sz="17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700" b="1" i="0" u="none" strike="noStrike" kern="1200" cap="none" spc="0" normalizeH="0" baseline="0" noProof="0">
                <a:ln>
                  <a:noFill/>
                </a:ln>
                <a:solidFill>
                  <a:srgbClr val="175481"/>
                </a:solidFill>
                <a:effectLst/>
                <a:uLnTx/>
                <a:uFillTx/>
                <a:latin typeface="Calibri" panose="020F0502020204030204" pitchFamily="34" charset="0"/>
                <a:ea typeface="+mn-ea"/>
                <a:cs typeface="+mn-cs"/>
              </a:rPr>
              <a:t>Project Objectives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GB" sz="2700" b="1">
                <a:solidFill>
                  <a:srgbClr val="175481"/>
                </a:solidFill>
                <a:latin typeface="Calibri" panose="020F0502020204030204" pitchFamily="34" charset="0"/>
              </a:rPr>
              <a:t>Project Modules and Interactive Workflow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EC17AAE-58F8-984A-8F18-419E482E6EE0}"/>
              </a:ext>
            </a:extLst>
          </p:cNvPr>
          <p:cNvCxnSpPr/>
          <p:nvPr/>
        </p:nvCxnSpPr>
        <p:spPr>
          <a:xfrm>
            <a:off x="2091267" y="25908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DF4779EC-8663-7D14-33C4-0DF8639ABC07}"/>
              </a:ext>
            </a:extLst>
          </p:cNvPr>
          <p:cNvCxnSpPr/>
          <p:nvPr/>
        </p:nvCxnSpPr>
        <p:spPr>
          <a:xfrm>
            <a:off x="4042833" y="25908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4DE96B5B-9B6F-1B27-5484-FA17080E8058}"/>
              </a:ext>
            </a:extLst>
          </p:cNvPr>
          <p:cNvCxnSpPr/>
          <p:nvPr/>
        </p:nvCxnSpPr>
        <p:spPr>
          <a:xfrm>
            <a:off x="5994400" y="25908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E5AC8D2-6F75-73FA-6679-F2D22A74A1EF}"/>
              </a:ext>
            </a:extLst>
          </p:cNvPr>
          <p:cNvCxnSpPr/>
          <p:nvPr/>
        </p:nvCxnSpPr>
        <p:spPr>
          <a:xfrm>
            <a:off x="7945967" y="25908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7B79006-545D-6B71-3CC9-527F6D8D250D}"/>
              </a:ext>
            </a:extLst>
          </p:cNvPr>
          <p:cNvCxnSpPr/>
          <p:nvPr/>
        </p:nvCxnSpPr>
        <p:spPr>
          <a:xfrm>
            <a:off x="9897533" y="25908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Rectangle: Rounded Corners 10">
            <a:hlinkClick r:id="" action="ppaction://noaction"/>
            <a:extLst>
              <a:ext uri="{FF2B5EF4-FFF2-40B4-BE49-F238E27FC236}">
                <a16:creationId xmlns:a16="http://schemas.microsoft.com/office/drawing/2014/main" id="{1A0E3C76-52FD-2CE3-7DAE-8DCAED901443}"/>
              </a:ext>
            </a:extLst>
          </p:cNvPr>
          <p:cNvSpPr/>
          <p:nvPr/>
        </p:nvSpPr>
        <p:spPr>
          <a:xfrm>
            <a:off x="355600" y="1968500"/>
            <a:ext cx="1722967" cy="1244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2" name="TextBox 11">
            <a:hlinkClick r:id="rId2" action="ppaction://hlinksldjump"/>
            <a:extLst>
              <a:ext uri="{FF2B5EF4-FFF2-40B4-BE49-F238E27FC236}">
                <a16:creationId xmlns:a16="http://schemas.microsoft.com/office/drawing/2014/main" id="{2BCF9BC4-BACE-FB83-F8F6-51FF7B61032E}"/>
              </a:ext>
            </a:extLst>
          </p:cNvPr>
          <p:cNvSpPr txBox="1"/>
          <p:nvPr/>
        </p:nvSpPr>
        <p:spPr>
          <a:xfrm>
            <a:off x="444500" y="2032000"/>
            <a:ext cx="1545167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 dirty="0">
                <a:solidFill>
                  <a:srgbClr val="20A9D2"/>
                </a:solidFill>
                <a:latin typeface="Calibri" panose="020F0502020204030204" pitchFamily="34" charset="0"/>
              </a:rPr>
              <a:t>JOB PROFILE</a:t>
            </a:r>
          </a:p>
        </p:txBody>
      </p:sp>
      <p:sp>
        <p:nvSpPr>
          <p:cNvPr id="13" name="TextBox 12">
            <a:hlinkClick r:id="" action="ppaction://noaction"/>
            <a:extLst>
              <a:ext uri="{FF2B5EF4-FFF2-40B4-BE49-F238E27FC236}">
                <a16:creationId xmlns:a16="http://schemas.microsoft.com/office/drawing/2014/main" id="{A0EE50AE-4A5E-3649-E424-6BC66D75AA0C}"/>
              </a:ext>
            </a:extLst>
          </p:cNvPr>
          <p:cNvSpPr txBox="1"/>
          <p:nvPr/>
        </p:nvSpPr>
        <p:spPr>
          <a:xfrm>
            <a:off x="444500" y="2349500"/>
            <a:ext cx="1545167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JD agent</a:t>
            </a:r>
          </a:p>
          <a:p>
            <a:pPr algn="ctr"/>
            <a:r>
              <a:rPr lang="en-IN" sz="1050" dirty="0">
                <a:solidFill>
                  <a:srgbClr val="263746"/>
                </a:solidFill>
                <a:latin typeface="Calibri" panose="020F0502020204030204" pitchFamily="34" charset="0"/>
              </a:rPr>
              <a:t>requirements</a:t>
            </a:r>
          </a:p>
        </p:txBody>
      </p:sp>
      <p:sp>
        <p:nvSpPr>
          <p:cNvPr id="14" name="Rectangle: Rounded Corners 13">
            <a:hlinkClick r:id="" action="ppaction://noaction"/>
            <a:extLst>
              <a:ext uri="{FF2B5EF4-FFF2-40B4-BE49-F238E27FC236}">
                <a16:creationId xmlns:a16="http://schemas.microsoft.com/office/drawing/2014/main" id="{291DD7D2-F586-F499-D793-715870862BD6}"/>
              </a:ext>
            </a:extLst>
          </p:cNvPr>
          <p:cNvSpPr/>
          <p:nvPr/>
        </p:nvSpPr>
        <p:spPr>
          <a:xfrm>
            <a:off x="2307167" y="1968500"/>
            <a:ext cx="1722966" cy="1244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hlinkClick r:id="rId3" action="ppaction://hlinksldjump"/>
            <a:extLst>
              <a:ext uri="{FF2B5EF4-FFF2-40B4-BE49-F238E27FC236}">
                <a16:creationId xmlns:a16="http://schemas.microsoft.com/office/drawing/2014/main" id="{B685B34C-3271-F73C-FC40-736D431AD68D}"/>
              </a:ext>
            </a:extLst>
          </p:cNvPr>
          <p:cNvSpPr txBox="1"/>
          <p:nvPr/>
        </p:nvSpPr>
        <p:spPr>
          <a:xfrm>
            <a:off x="2396067" y="2032000"/>
            <a:ext cx="1545167" cy="5078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CANDIDATE PROFILE</a:t>
            </a:r>
          </a:p>
        </p:txBody>
      </p:sp>
      <p:sp>
        <p:nvSpPr>
          <p:cNvPr id="16" name="TextBox 15">
            <a:hlinkClick r:id="" action="ppaction://noaction"/>
            <a:extLst>
              <a:ext uri="{FF2B5EF4-FFF2-40B4-BE49-F238E27FC236}">
                <a16:creationId xmlns:a16="http://schemas.microsoft.com/office/drawing/2014/main" id="{78F1DB6E-1B8A-1357-130B-DEC1B6F55AD3}"/>
              </a:ext>
            </a:extLst>
          </p:cNvPr>
          <p:cNvSpPr txBox="1"/>
          <p:nvPr/>
        </p:nvSpPr>
        <p:spPr>
          <a:xfrm>
            <a:off x="2396067" y="2349500"/>
            <a:ext cx="1545167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 dirty="0">
                <a:solidFill>
                  <a:srgbClr val="263746"/>
                </a:solidFill>
                <a:latin typeface="Calibri" panose="020F0502020204030204" pitchFamily="34" charset="0"/>
              </a:rPr>
              <a:t>Parser + resume agent</a:t>
            </a:r>
          </a:p>
          <a:p>
            <a:pPr algn="ctr"/>
            <a:r>
              <a:rPr lang="en-GB" sz="1050" dirty="0">
                <a:solidFill>
                  <a:srgbClr val="263746"/>
                </a:solidFill>
                <a:latin typeface="Calibri" panose="020F0502020204030204" pitchFamily="34" charset="0"/>
              </a:rPr>
              <a:t>structured evidence</a:t>
            </a:r>
            <a:endParaRPr lang="en-IN" sz="1050" dirty="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7" name="Rectangle: Rounded Corners 16">
            <a:hlinkClick r:id="" action="ppaction://noaction"/>
            <a:extLst>
              <a:ext uri="{FF2B5EF4-FFF2-40B4-BE49-F238E27FC236}">
                <a16:creationId xmlns:a16="http://schemas.microsoft.com/office/drawing/2014/main" id="{5FB17710-C390-F692-8FFF-FB77B3F47232}"/>
              </a:ext>
            </a:extLst>
          </p:cNvPr>
          <p:cNvSpPr/>
          <p:nvPr/>
        </p:nvSpPr>
        <p:spPr>
          <a:xfrm>
            <a:off x="4258733" y="1968500"/>
            <a:ext cx="1722967" cy="1244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8" name="TextBox 17">
            <a:hlinkClick r:id="rId4" action="ppaction://hlinksldjump"/>
            <a:extLst>
              <a:ext uri="{FF2B5EF4-FFF2-40B4-BE49-F238E27FC236}">
                <a16:creationId xmlns:a16="http://schemas.microsoft.com/office/drawing/2014/main" id="{3557646C-6870-8868-4EDC-82694F3AD1FB}"/>
              </a:ext>
            </a:extLst>
          </p:cNvPr>
          <p:cNvSpPr txBox="1"/>
          <p:nvPr/>
        </p:nvSpPr>
        <p:spPr>
          <a:xfrm>
            <a:off x="4347633" y="2032000"/>
            <a:ext cx="1545167" cy="507831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MATCH + EXPERIENCE</a:t>
            </a:r>
          </a:p>
        </p:txBody>
      </p:sp>
      <p:sp>
        <p:nvSpPr>
          <p:cNvPr id="19" name="TextBox 18">
            <a:hlinkClick r:id="" action="ppaction://noaction"/>
            <a:extLst>
              <a:ext uri="{FF2B5EF4-FFF2-40B4-BE49-F238E27FC236}">
                <a16:creationId xmlns:a16="http://schemas.microsoft.com/office/drawing/2014/main" id="{9DEBDA28-0203-2798-4541-8E1834025444}"/>
              </a:ext>
            </a:extLst>
          </p:cNvPr>
          <p:cNvSpPr txBox="1"/>
          <p:nvPr/>
        </p:nvSpPr>
        <p:spPr>
          <a:xfrm>
            <a:off x="4347633" y="2349500"/>
            <a:ext cx="1545167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Skill coverage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dates + relevance</a:t>
            </a:r>
          </a:p>
        </p:txBody>
      </p:sp>
      <p:sp>
        <p:nvSpPr>
          <p:cNvPr id="20" name="Rectangle: Rounded Corners 19">
            <a:hlinkClick r:id="" action="ppaction://noaction"/>
            <a:extLst>
              <a:ext uri="{FF2B5EF4-FFF2-40B4-BE49-F238E27FC236}">
                <a16:creationId xmlns:a16="http://schemas.microsoft.com/office/drawing/2014/main" id="{5752F054-8720-7C02-2223-99FEDE31CF94}"/>
              </a:ext>
            </a:extLst>
          </p:cNvPr>
          <p:cNvSpPr/>
          <p:nvPr/>
        </p:nvSpPr>
        <p:spPr>
          <a:xfrm>
            <a:off x="6210300" y="1968500"/>
            <a:ext cx="1722967" cy="1244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hlinkClick r:id="rId5" action="ppaction://hlinksldjump"/>
            <a:extLst>
              <a:ext uri="{FF2B5EF4-FFF2-40B4-BE49-F238E27FC236}">
                <a16:creationId xmlns:a16="http://schemas.microsoft.com/office/drawing/2014/main" id="{94B6D554-5DD7-DD36-0602-08EFD18B3A87}"/>
              </a:ext>
            </a:extLst>
          </p:cNvPr>
          <p:cNvSpPr txBox="1"/>
          <p:nvPr/>
        </p:nvSpPr>
        <p:spPr>
          <a:xfrm>
            <a:off x="6299200" y="2032000"/>
            <a:ext cx="1545167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COORDINATOR</a:t>
            </a:r>
          </a:p>
        </p:txBody>
      </p:sp>
      <p:sp>
        <p:nvSpPr>
          <p:cNvPr id="22" name="TextBox 21">
            <a:hlinkClick r:id="" action="ppaction://noaction"/>
            <a:extLst>
              <a:ext uri="{FF2B5EF4-FFF2-40B4-BE49-F238E27FC236}">
                <a16:creationId xmlns:a16="http://schemas.microsoft.com/office/drawing/2014/main" id="{7FF5A795-C7F5-5811-43FB-91387ECD8D39}"/>
              </a:ext>
            </a:extLst>
          </p:cNvPr>
          <p:cNvSpPr txBox="1"/>
          <p:nvPr/>
        </p:nvSpPr>
        <p:spPr>
          <a:xfrm>
            <a:off x="6299200" y="2349500"/>
            <a:ext cx="1545167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LangGraph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state + checkpoints</a:t>
            </a:r>
          </a:p>
        </p:txBody>
      </p:sp>
      <p:sp>
        <p:nvSpPr>
          <p:cNvPr id="23" name="Rectangle: Rounded Corners 22">
            <a:hlinkClick r:id="" action="ppaction://noaction"/>
            <a:extLst>
              <a:ext uri="{FF2B5EF4-FFF2-40B4-BE49-F238E27FC236}">
                <a16:creationId xmlns:a16="http://schemas.microsoft.com/office/drawing/2014/main" id="{FA2AADA4-B262-DCAD-B93A-CBFF02DD0BBA}"/>
              </a:ext>
            </a:extLst>
          </p:cNvPr>
          <p:cNvSpPr/>
          <p:nvPr/>
        </p:nvSpPr>
        <p:spPr>
          <a:xfrm>
            <a:off x="8161867" y="1968500"/>
            <a:ext cx="1722967" cy="1244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hlinkClick r:id="rId6" action="ppaction://hlinksldjump"/>
            <a:extLst>
              <a:ext uri="{FF2B5EF4-FFF2-40B4-BE49-F238E27FC236}">
                <a16:creationId xmlns:a16="http://schemas.microsoft.com/office/drawing/2014/main" id="{F185DF33-5CE4-63C0-63AB-F3EB20F8DE7B}"/>
              </a:ext>
            </a:extLst>
          </p:cNvPr>
          <p:cNvSpPr txBox="1"/>
          <p:nvPr/>
        </p:nvSpPr>
        <p:spPr>
          <a:xfrm>
            <a:off x="8250767" y="2032000"/>
            <a:ext cx="1545167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RECRUITER REVIEW</a:t>
            </a:r>
          </a:p>
        </p:txBody>
      </p:sp>
      <p:sp>
        <p:nvSpPr>
          <p:cNvPr id="25" name="TextBox 24">
            <a:hlinkClick r:id="" action="ppaction://noaction"/>
            <a:extLst>
              <a:ext uri="{FF2B5EF4-FFF2-40B4-BE49-F238E27FC236}">
                <a16:creationId xmlns:a16="http://schemas.microsoft.com/office/drawing/2014/main" id="{FCD84724-1979-4964-E99F-D2128478F1A8}"/>
              </a:ext>
            </a:extLst>
          </p:cNvPr>
          <p:cNvSpPr txBox="1"/>
          <p:nvPr/>
        </p:nvSpPr>
        <p:spPr>
          <a:xfrm>
            <a:off x="8250767" y="2349500"/>
            <a:ext cx="1545167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Human shortlisting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and assignment</a:t>
            </a:r>
          </a:p>
        </p:txBody>
      </p:sp>
      <p:sp>
        <p:nvSpPr>
          <p:cNvPr id="26" name="Rectangle: Rounded Corners 25">
            <a:hlinkClick r:id="" action="ppaction://noaction"/>
            <a:extLst>
              <a:ext uri="{FF2B5EF4-FFF2-40B4-BE49-F238E27FC236}">
                <a16:creationId xmlns:a16="http://schemas.microsoft.com/office/drawing/2014/main" id="{C5625AD1-F8D1-1399-A33D-B272368371A1}"/>
              </a:ext>
            </a:extLst>
          </p:cNvPr>
          <p:cNvSpPr/>
          <p:nvPr/>
        </p:nvSpPr>
        <p:spPr>
          <a:xfrm>
            <a:off x="10113433" y="1968500"/>
            <a:ext cx="1722967" cy="1244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86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hlinkClick r:id="rId7" action="ppaction://hlinksldjump"/>
            <a:extLst>
              <a:ext uri="{FF2B5EF4-FFF2-40B4-BE49-F238E27FC236}">
                <a16:creationId xmlns:a16="http://schemas.microsoft.com/office/drawing/2014/main" id="{6466A3F3-ACFB-2B61-070C-C57AA50D727D}"/>
              </a:ext>
            </a:extLst>
          </p:cNvPr>
          <p:cNvSpPr txBox="1"/>
          <p:nvPr/>
        </p:nvSpPr>
        <p:spPr>
          <a:xfrm>
            <a:off x="10202333" y="2032000"/>
            <a:ext cx="1545167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8666AC"/>
                </a:solidFill>
                <a:latin typeface="Calibri" panose="020F0502020204030204" pitchFamily="34" charset="0"/>
              </a:rPr>
              <a:t>INTERVIEW</a:t>
            </a:r>
          </a:p>
        </p:txBody>
      </p:sp>
      <p:sp>
        <p:nvSpPr>
          <p:cNvPr id="28" name="TextBox 27">
            <a:hlinkClick r:id="" action="ppaction://noaction"/>
            <a:extLst>
              <a:ext uri="{FF2B5EF4-FFF2-40B4-BE49-F238E27FC236}">
                <a16:creationId xmlns:a16="http://schemas.microsoft.com/office/drawing/2014/main" id="{1D0B729B-4A8E-3331-BB58-BF8CC2C31F43}"/>
              </a:ext>
            </a:extLst>
          </p:cNvPr>
          <p:cNvSpPr txBox="1"/>
          <p:nvPr/>
        </p:nvSpPr>
        <p:spPr>
          <a:xfrm>
            <a:off x="10202333" y="2349500"/>
            <a:ext cx="1545167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Questions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checklist + report</a:t>
            </a:r>
          </a:p>
        </p:txBody>
      </p:sp>
      <p:sp>
        <p:nvSpPr>
          <p:cNvPr id="29" name="Rectangle: Rounded Corners 28">
            <a:hlinkClick r:id="" action="ppaction://noaction"/>
            <a:extLst>
              <a:ext uri="{FF2B5EF4-FFF2-40B4-BE49-F238E27FC236}">
                <a16:creationId xmlns:a16="http://schemas.microsoft.com/office/drawing/2014/main" id="{73B15E9B-76BB-8DDC-30D7-1804866B95A0}"/>
              </a:ext>
            </a:extLst>
          </p:cNvPr>
          <p:cNvSpPr/>
          <p:nvPr/>
        </p:nvSpPr>
        <p:spPr>
          <a:xfrm>
            <a:off x="787400" y="3708400"/>
            <a:ext cx="4953000" cy="10033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hlinkClick r:id="rId6" action="ppaction://hlinksldjump"/>
            <a:extLst>
              <a:ext uri="{FF2B5EF4-FFF2-40B4-BE49-F238E27FC236}">
                <a16:creationId xmlns:a16="http://schemas.microsoft.com/office/drawing/2014/main" id="{01E4AA7F-C686-E008-0C47-7A5CF679A318}"/>
              </a:ext>
            </a:extLst>
          </p:cNvPr>
          <p:cNvSpPr txBox="1"/>
          <p:nvPr/>
        </p:nvSpPr>
        <p:spPr>
          <a:xfrm>
            <a:off x="876300" y="3771900"/>
            <a:ext cx="477520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RECRUITER WORKSPACE</a:t>
            </a:r>
          </a:p>
        </p:txBody>
      </p:sp>
      <p:sp>
        <p:nvSpPr>
          <p:cNvPr id="31" name="TextBox 30">
            <a:hlinkClick r:id="" action="ppaction://noaction"/>
            <a:extLst>
              <a:ext uri="{FF2B5EF4-FFF2-40B4-BE49-F238E27FC236}">
                <a16:creationId xmlns:a16="http://schemas.microsoft.com/office/drawing/2014/main" id="{27A00586-C52D-AE83-35F1-89027BCE4161}"/>
              </a:ext>
            </a:extLst>
          </p:cNvPr>
          <p:cNvSpPr txBox="1"/>
          <p:nvPr/>
        </p:nvSpPr>
        <p:spPr>
          <a:xfrm>
            <a:off x="876300" y="4089400"/>
            <a:ext cx="4775200" cy="238527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Create jobs | process resumes | review evidence | assign interviews | export reports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32" name="Rectangle: Rounded Corners 31">
            <a:hlinkClick r:id="" action="ppaction://noaction"/>
            <a:extLst>
              <a:ext uri="{FF2B5EF4-FFF2-40B4-BE49-F238E27FC236}">
                <a16:creationId xmlns:a16="http://schemas.microsoft.com/office/drawing/2014/main" id="{00D046D2-8D46-F323-8C64-57F305CBE21A}"/>
              </a:ext>
            </a:extLst>
          </p:cNvPr>
          <p:cNvSpPr/>
          <p:nvPr/>
        </p:nvSpPr>
        <p:spPr>
          <a:xfrm>
            <a:off x="6451600" y="3708400"/>
            <a:ext cx="4953000" cy="10033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Box 32">
            <a:hlinkClick r:id="rId8" action="ppaction://hlinksldjump"/>
            <a:extLst>
              <a:ext uri="{FF2B5EF4-FFF2-40B4-BE49-F238E27FC236}">
                <a16:creationId xmlns:a16="http://schemas.microsoft.com/office/drawing/2014/main" id="{C39DEFE1-2332-56DB-1DBE-5D87E7BDC826}"/>
              </a:ext>
            </a:extLst>
          </p:cNvPr>
          <p:cNvSpPr txBox="1"/>
          <p:nvPr/>
        </p:nvSpPr>
        <p:spPr>
          <a:xfrm>
            <a:off x="6540500" y="3771900"/>
            <a:ext cx="477520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INTERVIEWER WORKSPACE</a:t>
            </a:r>
          </a:p>
        </p:txBody>
      </p:sp>
      <p:sp>
        <p:nvSpPr>
          <p:cNvPr id="34" name="TextBox 33">
            <a:hlinkClick r:id="" action="ppaction://noaction"/>
            <a:extLst>
              <a:ext uri="{FF2B5EF4-FFF2-40B4-BE49-F238E27FC236}">
                <a16:creationId xmlns:a16="http://schemas.microsoft.com/office/drawing/2014/main" id="{C1B01D8F-68DA-59DA-4E32-BBFE0D69DF04}"/>
              </a:ext>
            </a:extLst>
          </p:cNvPr>
          <p:cNvSpPr txBox="1"/>
          <p:nvPr/>
        </p:nvSpPr>
        <p:spPr>
          <a:xfrm>
            <a:off x="6540500" y="4089400"/>
            <a:ext cx="4775200" cy="238527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Open assignment | review context | assess criteria | save draft | submit evaluation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35" name="Rectangle: Rounded Corners 34">
            <a:hlinkClick r:id="rId9" action="ppaction://hlinksldjump"/>
            <a:extLst>
              <a:ext uri="{FF2B5EF4-FFF2-40B4-BE49-F238E27FC236}">
                <a16:creationId xmlns:a16="http://schemas.microsoft.com/office/drawing/2014/main" id="{71F54D89-AF82-EB7A-4311-ECD9D0E34905}"/>
              </a:ext>
            </a:extLst>
          </p:cNvPr>
          <p:cNvSpPr/>
          <p:nvPr/>
        </p:nvSpPr>
        <p:spPr>
          <a:xfrm>
            <a:off x="787400" y="4902200"/>
            <a:ext cx="10617200" cy="508000"/>
          </a:xfrm>
          <a:prstGeom prst="roundRect">
            <a:avLst/>
          </a:prstGeom>
          <a:solidFill>
            <a:srgbClr val="F0F8FB"/>
          </a:solidFill>
          <a:ln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1200" b="1">
                <a:solidFill>
                  <a:srgbClr val="31628D"/>
                </a:solidFill>
                <a:latin typeface="Calibri" panose="020F0502020204030204" pitchFamily="34" charset="0"/>
              </a:rPr>
              <a:t>O*NET: raw tables -&gt; clean -&gt; profiles -&gt; semantic documents -&gt; embeddings -&gt; FAISS index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7FE3B546-1CBD-A596-4E15-09DC5C195D00}"/>
              </a:ext>
            </a:extLst>
          </p:cNvPr>
          <p:cNvSpPr txBox="1"/>
          <p:nvPr/>
        </p:nvSpPr>
        <p:spPr>
          <a:xfrm>
            <a:off x="317500" y="1371600"/>
            <a:ext cx="11430000" cy="307777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GB" sz="1500" b="1">
                <a:solidFill>
                  <a:srgbClr val="5687CC"/>
                </a:solidFill>
                <a:latin typeface="Calibri" panose="020F0502020204030204" pitchFamily="34" charset="0"/>
              </a:rPr>
              <a:t>Select a stage to open its detailed workflow</a:t>
            </a:r>
            <a:endParaRPr lang="en-IN" sz="1500" b="1">
              <a:solidFill>
                <a:srgbClr val="5687CC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325C8EF-A5DD-AB22-0372-51B9ABE6352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Job descriptions and resumes use different formats and inconsistent wording.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Recruiters must compare many candidate records against multiple role criteria.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Relevant experience may be hidden in dates, job titles, and task descriptions.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Interview questions and assessments can vary across interviewers.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Screening support must remain explainable and keep hiring decisions with people.</a:t>
            </a:r>
            <a:endParaRPr lang="en-US" sz="17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700" b="1">
                <a:solidFill>
                  <a:srgbClr val="175481"/>
                </a:solidFill>
                <a:latin typeface="Calibri" panose="020F0502020204030204" pitchFamily="34" charset="0"/>
              </a:rPr>
              <a:t>Problem Statement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2C3DBE-E507-D889-A890-2C56D2A659BE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Runtime path: job and resume intake -&gt; structured profiles -&gt; matching and experience evidence -&gt; recruiter review.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Interview path: assignment -&gt; generated questions and checklist -&gt; interviewer assessment -&gt; saved report.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Reference path: clean O*NET data -&gt; build profiles and semantic documents -&gt; embeddings -&gt; FAISS search.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LangGraph coordinates candidate stages and stores resumable checkpoints in PostgreSQL.</a:t>
            </a:r>
            <a:endParaRPr lang="en-US" sz="16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700" b="1">
                <a:solidFill>
                  <a:srgbClr val="175481"/>
                </a:solidFill>
                <a:latin typeface="Calibri" panose="020F0502020204030204" pitchFamily="34" charset="0"/>
              </a:rPr>
              <a:t>Methodology: Two Connected Pipelines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E433592-8155-CD6F-B5E3-78AB52F31DE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Streamlit: recruiter and interviewer dashboards; Python: application and agent modules.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Ollama llama3.2:3b: job/resume extraction and interview question generation.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LangGraph: stateful coordinator with stage routing, error handling, and checkpoints.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SQLAlchemy + PostgreSQL: recruitment, interview, authentication, and workflow persistence.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Ollama nomic-embed-text + FAISS: semantic O*NET document retrieval.</a:t>
            </a:r>
            <a:endParaRPr lang="en-US" sz="16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700" b="1">
                <a:solidFill>
                  <a:srgbClr val="175481"/>
                </a:solidFill>
                <a:latin typeface="Calibri" panose="020F0502020204030204" pitchFamily="34" charset="0"/>
              </a:rPr>
              <a:t>Approach, Algorithms, and Tools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0F88864-2E71-2992-AD53-E8948837272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Processed O*NET output: 1,016 occupation profiles and 7,397 semantic documents.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The FAISS index contains 7,397 vectors aligned with 7,397 metadata records.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Interview workflow checks cover question validation, scoring, draft persistence, and submission.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Reports expose checklist-based evidence; scores are not hiring recommendations.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600" b="0">
                <a:solidFill>
                  <a:srgbClr val="30343B"/>
                </a:solidFill>
                <a:latin typeface="Calibri" panose="020F0502020204030204" pitchFamily="34" charset="0"/>
              </a:rPr>
              <a:t>No end-to-end recruitment accuracy result is claimed by the repository.</a:t>
            </a:r>
            <a:endParaRPr lang="en-US" sz="16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700" b="1">
                <a:solidFill>
                  <a:srgbClr val="175481"/>
                </a:solidFill>
                <a:latin typeface="Calibri" panose="020F0502020204030204" pitchFamily="34" charset="0"/>
              </a:rPr>
              <a:t>Findings and Results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97872131-A6C0-4ECF-9994-EA002B6EAD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The application connects vacancy intake, candidate evidence, recruiter review, and interview evaluation.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Specialist agents structure and compare information; the coordinator sequences work and records state.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Recruiters control shortlisting and interview progression.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Interviewers own their assessment of candidate responses.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Generated content and extracted evidence require human verification.</a:t>
            </a:r>
            <a:endParaRPr lang="en-US" sz="17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fr-FR" sz="2700" b="1">
                <a:solidFill>
                  <a:srgbClr val="175481"/>
                </a:solidFill>
                <a:latin typeface="Calibri" panose="020F0502020204030204" pitchFamily="34" charset="0"/>
              </a:rPr>
              <a:t>Conclusion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0E03C842-0779-BE44-EECA-2F2EE3FA730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Project review presentation follows the supplied University and LTIMindTree Review III template.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Acknowledgement to Vellore Institute of Technology and the program knowledge and implementation partners.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GB" sz="1700" b="0">
                <a:solidFill>
                  <a:srgbClr val="30343B"/>
                </a:solidFill>
                <a:latin typeface="Calibri" panose="020F0502020204030204" pitchFamily="34" charset="0"/>
              </a:rPr>
              <a:t>Project implementation and supporting materials are maintained in the supplied repository.</a:t>
            </a:r>
            <a:endParaRPr lang="en-US" sz="17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fr-FR" sz="2700" b="1">
                <a:solidFill>
                  <a:srgbClr val="175481"/>
                </a:solidFill>
                <a:latin typeface="Calibri" panose="020F0502020204030204" pitchFamily="34" charset="0"/>
              </a:rPr>
              <a:t>Acknowledgement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1E11D5E-73A6-DACE-A314-51CBCF3D39F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55996" y="1271219"/>
            <a:ext cx="10624338" cy="4142989"/>
          </a:xfrm>
        </p:spPr>
        <p:txBody>
          <a:bodyPr wrap="square" lIns="127000" tIns="88900" rIns="101600" bIns="63500"/>
          <a:lstStyle/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Implementation: app/agents/ and app/services/ in the supplied project repository.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Persistence: app/recruitment_store.py, app/interview_store.py, app/auth_store.py.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O*NET processing: preprocessing/ scripts; generated retrieval artifacts in processed/.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Runtime and dependency configuration: requirements.txt and .env.example.</a:t>
            </a:r>
          </a:p>
          <a:p>
            <a:pPr>
              <a:lnSpc>
                <a:spcPct val="150000"/>
              </a:lnSpc>
              <a:spcAft>
                <a:spcPts val="800"/>
              </a:spcAft>
              <a:buFont typeface="+mj-lt"/>
              <a:buChar char="•"/>
            </a:pPr>
            <a:r>
              <a:rPr lang="en-US" sz="1600" b="0">
                <a:solidFill>
                  <a:srgbClr val="30343B"/>
                </a:solidFill>
                <a:latin typeface="Calibri" panose="020F0502020204030204" pitchFamily="34" charset="0"/>
              </a:rPr>
              <a:t>Frameworks/models in use: Streamlit, LangGraph, PostgreSQL, Ollama, FAISS, O*NET.</a:t>
            </a:r>
            <a:endParaRPr lang="en-US" sz="1600" b="0" dirty="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507831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fr-FR" sz="2700" b="1">
                <a:solidFill>
                  <a:srgbClr val="175481"/>
                </a:solidFill>
                <a:latin typeface="Calibri" panose="020F0502020204030204" pitchFamily="34" charset="0"/>
              </a:rPr>
              <a:t>References and Project Files</a:t>
            </a:r>
            <a:endParaRPr kumimoji="0" lang="en-US" sz="27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uiExpand="1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Job Description Understanding Agent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9CC4049-0B0F-EBC8-B0E4-8C8A7A64BD41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IN" sz="1400" b="1">
                <a:solidFill>
                  <a:srgbClr val="5687CC"/>
                </a:solidFill>
                <a:latin typeface="Calibri" panose="020F0502020204030204" pitchFamily="34" charset="0"/>
              </a:rPr>
              <a:t>app/agents/jd_agent.py  |  Ollama llama3.2:3b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AFBD6C1-43FA-2AEF-030B-F459069E8487}"/>
              </a:ext>
            </a:extLst>
          </p:cNvPr>
          <p:cNvCxnSpPr/>
          <p:nvPr/>
        </p:nvCxnSpPr>
        <p:spPr>
          <a:xfrm>
            <a:off x="305435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7FB360E9-46E9-76C2-D415-95A451BFDA41}"/>
              </a:ext>
            </a:extLst>
          </p:cNvPr>
          <p:cNvCxnSpPr/>
          <p:nvPr/>
        </p:nvCxnSpPr>
        <p:spPr>
          <a:xfrm>
            <a:off x="599440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53C205A-57B3-B824-1569-EB1C8E05FC6B}"/>
              </a:ext>
            </a:extLst>
          </p:cNvPr>
          <p:cNvCxnSpPr/>
          <p:nvPr/>
        </p:nvCxnSpPr>
        <p:spPr>
          <a:xfrm>
            <a:off x="893445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hlinkClick r:id="" action="ppaction://noaction"/>
            <a:extLst>
              <a:ext uri="{FF2B5EF4-FFF2-40B4-BE49-F238E27FC236}">
                <a16:creationId xmlns:a16="http://schemas.microsoft.com/office/drawing/2014/main" id="{E384BAEF-AC4A-3C6B-1069-596FBDF17F77}"/>
              </a:ext>
            </a:extLst>
          </p:cNvPr>
          <p:cNvSpPr/>
          <p:nvPr/>
        </p:nvSpPr>
        <p:spPr>
          <a:xfrm>
            <a:off x="33020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hlinkClick r:id="" action="ppaction://noaction"/>
            <a:extLst>
              <a:ext uri="{FF2B5EF4-FFF2-40B4-BE49-F238E27FC236}">
                <a16:creationId xmlns:a16="http://schemas.microsoft.com/office/drawing/2014/main" id="{A8533BF7-8E4E-DE4A-8A36-9D8806438915}"/>
              </a:ext>
            </a:extLst>
          </p:cNvPr>
          <p:cNvSpPr txBox="1"/>
          <p:nvPr/>
        </p:nvSpPr>
        <p:spPr>
          <a:xfrm>
            <a:off x="41910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RECRUITER INPUT</a:t>
            </a:r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67EB29C8-D2D2-7630-195B-BABAE7196B19}"/>
              </a:ext>
            </a:extLst>
          </p:cNvPr>
          <p:cNvSpPr txBox="1"/>
          <p:nvPr/>
        </p:nvSpPr>
        <p:spPr>
          <a:xfrm>
            <a:off x="41910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Free-text vacancy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requirements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0C04A633-9512-CF12-44BE-78786AD28F9A}"/>
              </a:ext>
            </a:extLst>
          </p:cNvPr>
          <p:cNvSpPr/>
          <p:nvPr/>
        </p:nvSpPr>
        <p:spPr>
          <a:xfrm>
            <a:off x="327025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036D3722-547B-C226-1140-75E69A6CE601}"/>
              </a:ext>
            </a:extLst>
          </p:cNvPr>
          <p:cNvSpPr txBox="1"/>
          <p:nvPr/>
        </p:nvSpPr>
        <p:spPr>
          <a:xfrm>
            <a:off x="335915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EXTRACT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0C65C746-5568-D34D-961D-23E6D8E45148}"/>
              </a:ext>
            </a:extLst>
          </p:cNvPr>
          <p:cNvSpPr txBox="1"/>
          <p:nvPr/>
        </p:nvSpPr>
        <p:spPr>
          <a:xfrm>
            <a:off x="335915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Title, skills, education,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experience, location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BFEE514B-2681-5037-6815-436FCDA8E506}"/>
              </a:ext>
            </a:extLst>
          </p:cNvPr>
          <p:cNvSpPr/>
          <p:nvPr/>
        </p:nvSpPr>
        <p:spPr>
          <a:xfrm>
            <a:off x="621030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217A030-814D-0904-701C-FD5F7F13FC7E}"/>
              </a:ext>
            </a:extLst>
          </p:cNvPr>
          <p:cNvSpPr txBox="1"/>
          <p:nvPr/>
        </p:nvSpPr>
        <p:spPr>
          <a:xfrm>
            <a:off x="629920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VALIDATE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60B7B62-7EC1-D9EE-A9E9-B12701DFFE36}"/>
              </a:ext>
            </a:extLst>
          </p:cNvPr>
          <p:cNvSpPr txBox="1"/>
          <p:nvPr/>
        </p:nvSpPr>
        <p:spPr>
          <a:xfrm>
            <a:off x="629920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JSON fields normalized;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missing values stay empty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63756CC-6B64-EE8D-3F60-61E6E7C424A4}"/>
              </a:ext>
            </a:extLst>
          </p:cNvPr>
          <p:cNvSpPr/>
          <p:nvPr/>
        </p:nvSpPr>
        <p:spPr>
          <a:xfrm>
            <a:off x="915035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29E6844-E249-18CB-23E4-8A4E1DBC8E0B}"/>
              </a:ext>
            </a:extLst>
          </p:cNvPr>
          <p:cNvSpPr txBox="1"/>
          <p:nvPr/>
        </p:nvSpPr>
        <p:spPr>
          <a:xfrm>
            <a:off x="923925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JOB PROFILE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5D150-DA8F-74C3-A1DE-1765A285E4C1}"/>
              </a:ext>
            </a:extLst>
          </p:cNvPr>
          <p:cNvSpPr txBox="1"/>
          <p:nvPr/>
        </p:nvSpPr>
        <p:spPr>
          <a:xfrm>
            <a:off x="923925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Common target for matching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and interview context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D6C6A5B-6391-5F25-C6AE-92704CB8B33D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Recruiter check: verify required vs preferred criteria and confirm that the extracted profile reflects the actual vacancy.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hlinkClick r:id="rId2" action="ppaction://hlinksldjump"/>
            <a:extLst>
              <a:ext uri="{FF2B5EF4-FFF2-40B4-BE49-F238E27FC236}">
                <a16:creationId xmlns:a16="http://schemas.microsoft.com/office/drawing/2014/main" id="{728F75A0-FEDD-BE2F-70E9-4536FB8FB30D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289865312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Resume Parsing and Understanding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9D0814C-8276-76D4-B508-68B75FDCD383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IN" sz="1400" b="1">
                <a:solidFill>
                  <a:srgbClr val="5687CC"/>
                </a:solidFill>
                <a:latin typeface="Calibri" panose="020F0502020204030204" pitchFamily="34" charset="0"/>
              </a:rPr>
              <a:t>app/services/resume_parser.py  +  app/agents/resume_agent.py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05D90CA-1888-2842-7F81-A58E0D032A3E}"/>
              </a:ext>
            </a:extLst>
          </p:cNvPr>
          <p:cNvCxnSpPr/>
          <p:nvPr/>
        </p:nvCxnSpPr>
        <p:spPr>
          <a:xfrm>
            <a:off x="305435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0BCFCB62-256A-FDD5-3B01-7B7FB5CAFF87}"/>
              </a:ext>
            </a:extLst>
          </p:cNvPr>
          <p:cNvCxnSpPr/>
          <p:nvPr/>
        </p:nvCxnSpPr>
        <p:spPr>
          <a:xfrm>
            <a:off x="599440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A13A98EE-4AED-CBEB-F031-CB5BD2457C49}"/>
              </a:ext>
            </a:extLst>
          </p:cNvPr>
          <p:cNvCxnSpPr/>
          <p:nvPr/>
        </p:nvCxnSpPr>
        <p:spPr>
          <a:xfrm>
            <a:off x="893445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: Rounded Corners 11">
            <a:hlinkClick r:id="" action="ppaction://noaction"/>
            <a:extLst>
              <a:ext uri="{FF2B5EF4-FFF2-40B4-BE49-F238E27FC236}">
                <a16:creationId xmlns:a16="http://schemas.microsoft.com/office/drawing/2014/main" id="{72A820DD-D764-B8E3-3E34-9DF8CCC79A14}"/>
              </a:ext>
            </a:extLst>
          </p:cNvPr>
          <p:cNvSpPr/>
          <p:nvPr/>
        </p:nvSpPr>
        <p:spPr>
          <a:xfrm>
            <a:off x="33020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TextBox 12">
            <a:hlinkClick r:id="" action="ppaction://noaction"/>
            <a:extLst>
              <a:ext uri="{FF2B5EF4-FFF2-40B4-BE49-F238E27FC236}">
                <a16:creationId xmlns:a16="http://schemas.microsoft.com/office/drawing/2014/main" id="{60A9C6A2-E95C-B6D6-DE3C-C3C860643D83}"/>
              </a:ext>
            </a:extLst>
          </p:cNvPr>
          <p:cNvSpPr txBox="1"/>
          <p:nvPr/>
        </p:nvSpPr>
        <p:spPr>
          <a:xfrm>
            <a:off x="41910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UPLOAD</a:t>
            </a:r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1F1625EB-2FDF-82B3-1054-DA83EC1CF846}"/>
              </a:ext>
            </a:extLst>
          </p:cNvPr>
          <p:cNvSpPr txBox="1"/>
          <p:nvPr/>
        </p:nvSpPr>
        <p:spPr>
          <a:xfrm>
            <a:off x="41910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PDF / DOCX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resume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B4B7743-1C23-101D-902E-4E1D260BC185}"/>
              </a:ext>
            </a:extLst>
          </p:cNvPr>
          <p:cNvSpPr/>
          <p:nvPr/>
        </p:nvSpPr>
        <p:spPr>
          <a:xfrm>
            <a:off x="327025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B1E69AC-9B44-37A5-4FCC-8F67CB31D744}"/>
              </a:ext>
            </a:extLst>
          </p:cNvPr>
          <p:cNvSpPr txBox="1"/>
          <p:nvPr/>
        </p:nvSpPr>
        <p:spPr>
          <a:xfrm>
            <a:off x="335915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PARSE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AADFCA97-C95A-851D-1914-999148579524}"/>
              </a:ext>
            </a:extLst>
          </p:cNvPr>
          <p:cNvSpPr txBox="1"/>
          <p:nvPr/>
        </p:nvSpPr>
        <p:spPr>
          <a:xfrm>
            <a:off x="335915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pypdf or python-docx;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normalize text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0163D67-7C8F-EC43-39A3-609F32FF30E4}"/>
              </a:ext>
            </a:extLst>
          </p:cNvPr>
          <p:cNvSpPr/>
          <p:nvPr/>
        </p:nvSpPr>
        <p:spPr>
          <a:xfrm>
            <a:off x="621030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A7C1C73-305A-F3E2-A6F3-93E3687E2929}"/>
              </a:ext>
            </a:extLst>
          </p:cNvPr>
          <p:cNvSpPr txBox="1"/>
          <p:nvPr/>
        </p:nvSpPr>
        <p:spPr>
          <a:xfrm>
            <a:off x="629920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UNDERSTAND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ADCAFC7-6E54-61D7-978D-EE38355D4802}"/>
              </a:ext>
            </a:extLst>
          </p:cNvPr>
          <p:cNvSpPr txBox="1"/>
          <p:nvPr/>
        </p:nvSpPr>
        <p:spPr>
          <a:xfrm>
            <a:off x="629920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Ollama extracts profile;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validation + fallbacks</a:t>
            </a: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566137C0-9ED2-F022-80BA-B7E0F28A9D3B}"/>
              </a:ext>
            </a:extLst>
          </p:cNvPr>
          <p:cNvSpPr/>
          <p:nvPr/>
        </p:nvSpPr>
        <p:spPr>
          <a:xfrm>
            <a:off x="9150350" y="2095500"/>
            <a:ext cx="271145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1E94CBA9-5451-11ED-72D9-C29C80B550CF}"/>
              </a:ext>
            </a:extLst>
          </p:cNvPr>
          <p:cNvSpPr txBox="1"/>
          <p:nvPr/>
        </p:nvSpPr>
        <p:spPr>
          <a:xfrm>
            <a:off x="9239250" y="2159000"/>
            <a:ext cx="253365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CANDIDATE PROFILE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CA5FC29-539E-F646-ED51-89C66D6023F1}"/>
              </a:ext>
            </a:extLst>
          </p:cNvPr>
          <p:cNvSpPr txBox="1"/>
          <p:nvPr/>
        </p:nvSpPr>
        <p:spPr>
          <a:xfrm>
            <a:off x="9239250" y="2476500"/>
            <a:ext cx="253365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Skills, education, roles,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projects and evidence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14B2C8B7-06D3-144E-DD05-42FDEC1D08E3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Parser supports text-based PDF and DOCX. Scanned image-only PDFs need OCR, which is not implemented. Resume claims are not independently verified.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hlinkClick r:id="rId2" action="ppaction://hlinksldjump"/>
            <a:extLst>
              <a:ext uri="{FF2B5EF4-FFF2-40B4-BE49-F238E27FC236}">
                <a16:creationId xmlns:a16="http://schemas.microsoft.com/office/drawing/2014/main" id="{76E7061E-C32D-1D04-96DB-AB30D2A920EC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8593832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Candidate Matching and Experience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0EBFF92-93BC-E30A-A2CE-2C4F37A5853A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GB" sz="1400" b="1">
                <a:solidFill>
                  <a:srgbClr val="5687CC"/>
                </a:solidFill>
                <a:latin typeface="Calibri" panose="020F0502020204030204" pitchFamily="34" charset="0"/>
              </a:rPr>
              <a:t>app/agents/matching_agent.py  +  app/agents/experience_agent.py</a:t>
            </a:r>
            <a:endParaRPr lang="en-IN" sz="1400" b="1">
              <a:solidFill>
                <a:srgbClr val="5687CC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FF25D767-373F-9BDC-C2B7-2415B456B371}"/>
              </a:ext>
            </a:extLst>
          </p:cNvPr>
          <p:cNvCxnSpPr/>
          <p:nvPr/>
        </p:nvCxnSpPr>
        <p:spPr>
          <a:xfrm>
            <a:off x="246634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9A801BF-C42D-76B8-495D-609A76EE5475}"/>
              </a:ext>
            </a:extLst>
          </p:cNvPr>
          <p:cNvCxnSpPr/>
          <p:nvPr/>
        </p:nvCxnSpPr>
        <p:spPr>
          <a:xfrm>
            <a:off x="481838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7025723-70A3-1251-B819-280EE0999801}"/>
              </a:ext>
            </a:extLst>
          </p:cNvPr>
          <p:cNvCxnSpPr/>
          <p:nvPr/>
        </p:nvCxnSpPr>
        <p:spPr>
          <a:xfrm>
            <a:off x="717042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39B989DD-228D-C762-DA1E-DC1E9FEC90EC}"/>
              </a:ext>
            </a:extLst>
          </p:cNvPr>
          <p:cNvCxnSpPr/>
          <p:nvPr/>
        </p:nvCxnSpPr>
        <p:spPr>
          <a:xfrm>
            <a:off x="952246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hlinkClick r:id="" action="ppaction://noaction"/>
            <a:extLst>
              <a:ext uri="{FF2B5EF4-FFF2-40B4-BE49-F238E27FC236}">
                <a16:creationId xmlns:a16="http://schemas.microsoft.com/office/drawing/2014/main" id="{55AEBE25-8B8F-CB4F-A313-6B9166D56C70}"/>
              </a:ext>
            </a:extLst>
          </p:cNvPr>
          <p:cNvSpPr/>
          <p:nvPr/>
        </p:nvSpPr>
        <p:spPr>
          <a:xfrm>
            <a:off x="33020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FA7C6A88-FC7B-4B45-176C-C7411DA805E6}"/>
              </a:ext>
            </a:extLst>
          </p:cNvPr>
          <p:cNvSpPr txBox="1"/>
          <p:nvPr/>
        </p:nvSpPr>
        <p:spPr>
          <a:xfrm>
            <a:off x="41910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JOB + PROFILE</a:t>
            </a:r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ECDA008B-1F0C-BC87-B3F7-9683B4CC94C3}"/>
              </a:ext>
            </a:extLst>
          </p:cNvPr>
          <p:cNvSpPr txBox="1"/>
          <p:nvPr/>
        </p:nvSpPr>
        <p:spPr>
          <a:xfrm>
            <a:off x="41910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Structured job and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candidate fields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71B84AC-464F-C62E-1420-AAA26536BB01}"/>
              </a:ext>
            </a:extLst>
          </p:cNvPr>
          <p:cNvSpPr/>
          <p:nvPr/>
        </p:nvSpPr>
        <p:spPr>
          <a:xfrm>
            <a:off x="268224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A462DAF-D0C9-3D9B-0129-C21BFC9D1A88}"/>
              </a:ext>
            </a:extLst>
          </p:cNvPr>
          <p:cNvSpPr txBox="1"/>
          <p:nvPr/>
        </p:nvSpPr>
        <p:spPr>
          <a:xfrm>
            <a:off x="277114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MATCH SKILLS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666B3BF8-8C52-79E9-9D64-1B29EF40B532}"/>
              </a:ext>
            </a:extLst>
          </p:cNvPr>
          <p:cNvSpPr txBox="1"/>
          <p:nvPr/>
        </p:nvSpPr>
        <p:spPr>
          <a:xfrm>
            <a:off x="277114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Canonical skill aliases;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required / preferred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EB5EA1F-4D4F-1A76-14B3-294B41AC4ECE}"/>
              </a:ext>
            </a:extLst>
          </p:cNvPr>
          <p:cNvSpPr/>
          <p:nvPr/>
        </p:nvSpPr>
        <p:spPr>
          <a:xfrm>
            <a:off x="503428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6C77F7F-7128-B8D8-2D78-C2D04E7BD9B1}"/>
              </a:ext>
            </a:extLst>
          </p:cNvPr>
          <p:cNvSpPr txBox="1"/>
          <p:nvPr/>
        </p:nvSpPr>
        <p:spPr>
          <a:xfrm>
            <a:off x="512318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ASSESS TIME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C204BA4-A34C-76FA-774C-2F8DCF94DE5D}"/>
              </a:ext>
            </a:extLst>
          </p:cNvPr>
          <p:cNvSpPr txBox="1"/>
          <p:nvPr/>
        </p:nvSpPr>
        <p:spPr>
          <a:xfrm>
            <a:off x="512318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Parse dates; merge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overlapping intervals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20920EC5-D599-4BD3-8770-03EE6E1A0233}"/>
              </a:ext>
            </a:extLst>
          </p:cNvPr>
          <p:cNvSpPr/>
          <p:nvPr/>
        </p:nvSpPr>
        <p:spPr>
          <a:xfrm>
            <a:off x="738632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389690B-5991-23AA-EAA4-D97A2F580BCD}"/>
              </a:ext>
            </a:extLst>
          </p:cNvPr>
          <p:cNvSpPr txBox="1"/>
          <p:nvPr/>
        </p:nvSpPr>
        <p:spPr>
          <a:xfrm>
            <a:off x="747522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RELATE ROLES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1D146F8C-01F0-AE6A-1FC4-CF33F48E4BE3}"/>
              </a:ext>
            </a:extLst>
          </p:cNvPr>
          <p:cNvSpPr txBox="1"/>
          <p:nvPr/>
        </p:nvSpPr>
        <p:spPr>
          <a:xfrm>
            <a:off x="747522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Compare role text, tasks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and skills with the vacancy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90383219-3C39-5DD2-6064-56E8D67D8A6F}"/>
              </a:ext>
            </a:extLst>
          </p:cNvPr>
          <p:cNvSpPr/>
          <p:nvPr/>
        </p:nvSpPr>
        <p:spPr>
          <a:xfrm>
            <a:off x="973836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AF60FC-4408-B7DE-BDB9-65743BC812E8}"/>
              </a:ext>
            </a:extLst>
          </p:cNvPr>
          <p:cNvSpPr txBox="1"/>
          <p:nvPr/>
        </p:nvSpPr>
        <p:spPr>
          <a:xfrm>
            <a:off x="982726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REPORT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FEC470C6-5D35-58E3-B092-862E67DD2739}"/>
              </a:ext>
            </a:extLst>
          </p:cNvPr>
          <p:cNvSpPr txBox="1"/>
          <p:nvPr/>
        </p:nvSpPr>
        <p:spPr>
          <a:xfrm>
            <a:off x="982726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Coverage, gaps, evidence,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provisional level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B4087C70-817F-4C4D-9B56-9EE8E2B4BCD2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Matching is evidence coverage, not a hiring verdict. Experience may remain provisional when dates are missing or uncertain.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hlinkClick r:id="rId2" action="ppaction://hlinksldjump"/>
            <a:extLst>
              <a:ext uri="{FF2B5EF4-FFF2-40B4-BE49-F238E27FC236}">
                <a16:creationId xmlns:a16="http://schemas.microsoft.com/office/drawing/2014/main" id="{2B4868FE-3E74-07E8-7542-82ECC144046F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2661097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GB" sz="2400" b="1">
                <a:solidFill>
                  <a:srgbClr val="175481"/>
                </a:solidFill>
                <a:latin typeface="Calibri" panose="020F0502020204030204" pitchFamily="34" charset="0"/>
              </a:rPr>
              <a:t>Coordinator Agent and Runtime Pipeline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6111FD7-245D-7608-20F8-D060EC3385FD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IN" sz="1400" b="1">
                <a:solidFill>
                  <a:srgbClr val="5687CC"/>
                </a:solidFill>
                <a:latin typeface="Calibri" panose="020F0502020204030204" pitchFamily="34" charset="0"/>
              </a:rPr>
              <a:t>app/agents/coordinator_agent.py  |  LangGraph + PostgreSQL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2D58E18-C2CE-0973-EF08-AFB1525B40F0}"/>
              </a:ext>
            </a:extLst>
          </p:cNvPr>
          <p:cNvCxnSpPr/>
          <p:nvPr/>
        </p:nvCxnSpPr>
        <p:spPr>
          <a:xfrm>
            <a:off x="246634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AAF1ED5-ECE5-47DE-F368-1E214C31B807}"/>
              </a:ext>
            </a:extLst>
          </p:cNvPr>
          <p:cNvCxnSpPr/>
          <p:nvPr/>
        </p:nvCxnSpPr>
        <p:spPr>
          <a:xfrm>
            <a:off x="481838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C050E548-5EE2-7E96-0FF0-37058C7269BD}"/>
              </a:ext>
            </a:extLst>
          </p:cNvPr>
          <p:cNvCxnSpPr/>
          <p:nvPr/>
        </p:nvCxnSpPr>
        <p:spPr>
          <a:xfrm>
            <a:off x="717042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2E8F9C6-163A-C3BB-F246-CE8CD0D571E5}"/>
              </a:ext>
            </a:extLst>
          </p:cNvPr>
          <p:cNvCxnSpPr/>
          <p:nvPr/>
        </p:nvCxnSpPr>
        <p:spPr>
          <a:xfrm>
            <a:off x="952246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hlinkClick r:id="" action="ppaction://noaction"/>
            <a:extLst>
              <a:ext uri="{FF2B5EF4-FFF2-40B4-BE49-F238E27FC236}">
                <a16:creationId xmlns:a16="http://schemas.microsoft.com/office/drawing/2014/main" id="{6221D77B-DF3B-7C99-E2F6-303DE0761436}"/>
              </a:ext>
            </a:extLst>
          </p:cNvPr>
          <p:cNvSpPr/>
          <p:nvPr/>
        </p:nvSpPr>
        <p:spPr>
          <a:xfrm>
            <a:off x="33020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2933F923-19A3-8E96-DDF6-229CB24312BA}"/>
              </a:ext>
            </a:extLst>
          </p:cNvPr>
          <p:cNvSpPr txBox="1"/>
          <p:nvPr/>
        </p:nvSpPr>
        <p:spPr>
          <a:xfrm>
            <a:off x="41910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START</a:t>
            </a:r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96901A00-7D92-6032-DA3A-F913B7967B2C}"/>
              </a:ext>
            </a:extLst>
          </p:cNvPr>
          <p:cNvSpPr txBox="1"/>
          <p:nvPr/>
        </p:nvSpPr>
        <p:spPr>
          <a:xfrm>
            <a:off x="41910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Job + resume path;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workflow ID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2115BE9-0F62-C211-4195-A4B5625F85FE}"/>
              </a:ext>
            </a:extLst>
          </p:cNvPr>
          <p:cNvSpPr/>
          <p:nvPr/>
        </p:nvSpPr>
        <p:spPr>
          <a:xfrm>
            <a:off x="268224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F4D1E2E-0AFE-7E2D-A7A0-17B62DEE4DA2}"/>
              </a:ext>
            </a:extLst>
          </p:cNvPr>
          <p:cNvSpPr txBox="1"/>
          <p:nvPr/>
        </p:nvSpPr>
        <p:spPr>
          <a:xfrm>
            <a:off x="277114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RESUME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9D1AF428-10FE-49F1-1B54-186C5BB24A6B}"/>
              </a:ext>
            </a:extLst>
          </p:cNvPr>
          <p:cNvSpPr txBox="1"/>
          <p:nvPr/>
        </p:nvSpPr>
        <p:spPr>
          <a:xfrm>
            <a:off x="277114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Run unless an existing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profile is supplied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4FDEA2B-8060-FE66-A4D5-86E88F20092A}"/>
              </a:ext>
            </a:extLst>
          </p:cNvPr>
          <p:cNvSpPr/>
          <p:nvPr/>
        </p:nvSpPr>
        <p:spPr>
          <a:xfrm>
            <a:off x="503428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917EAA02-C46C-43E7-2EDD-C886B9FF6614}"/>
              </a:ext>
            </a:extLst>
          </p:cNvPr>
          <p:cNvSpPr txBox="1"/>
          <p:nvPr/>
        </p:nvSpPr>
        <p:spPr>
          <a:xfrm>
            <a:off x="512318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MATCH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61136BD-DBAB-C580-379D-CA8DC223B427}"/>
              </a:ext>
            </a:extLst>
          </p:cNvPr>
          <p:cNvSpPr txBox="1"/>
          <p:nvPr/>
        </p:nvSpPr>
        <p:spPr>
          <a:xfrm>
            <a:off x="512318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Compare evidence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against vacancy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FDE76B1-922C-4010-1C01-2F8E814440C4}"/>
              </a:ext>
            </a:extLst>
          </p:cNvPr>
          <p:cNvSpPr/>
          <p:nvPr/>
        </p:nvSpPr>
        <p:spPr>
          <a:xfrm>
            <a:off x="738632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8F7E442-20B4-AD41-5D73-9738626C4221}"/>
              </a:ext>
            </a:extLst>
          </p:cNvPr>
          <p:cNvSpPr txBox="1"/>
          <p:nvPr/>
        </p:nvSpPr>
        <p:spPr>
          <a:xfrm>
            <a:off x="747522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EXPERIENCE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AC9B3CC-E2B4-F368-F995-19B33F6CB5FE}"/>
              </a:ext>
            </a:extLst>
          </p:cNvPr>
          <p:cNvSpPr txBox="1"/>
          <p:nvPr/>
        </p:nvSpPr>
        <p:spPr>
          <a:xfrm>
            <a:off x="747522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Calculate duration and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role relevance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B119AC20-445C-F0E6-DEA7-85C6C7F7EAFF}"/>
              </a:ext>
            </a:extLst>
          </p:cNvPr>
          <p:cNvSpPr/>
          <p:nvPr/>
        </p:nvSpPr>
        <p:spPr>
          <a:xfrm>
            <a:off x="973836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92A99CA-194D-0B32-1619-C7405A459DBB}"/>
              </a:ext>
            </a:extLst>
          </p:cNvPr>
          <p:cNvSpPr txBox="1"/>
          <p:nvPr/>
        </p:nvSpPr>
        <p:spPr>
          <a:xfrm>
            <a:off x="982726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RECRUITER REVIEW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1E3250E6-C38F-D343-243F-5E7D188769F1}"/>
              </a:ext>
            </a:extLst>
          </p:cNvPr>
          <p:cNvSpPr txBox="1"/>
          <p:nvPr/>
        </p:nvSpPr>
        <p:spPr>
          <a:xfrm>
            <a:off x="982726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Await human review;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no automatic decision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E12BFB4A-9307-5120-8EE3-8C7A0FC822C6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Errors stop downstream nodes and are recorded. PostgreSQL checkpoints support state and history retrieval.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hlinkClick r:id="rId2" action="ppaction://hlinksldjump"/>
            <a:extLst>
              <a:ext uri="{FF2B5EF4-FFF2-40B4-BE49-F238E27FC236}">
                <a16:creationId xmlns:a16="http://schemas.microsoft.com/office/drawing/2014/main" id="{537EDE13-7C9B-1822-3E69-26CE3D6AA276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352826701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O*NET Data Preparation and Retrieval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5147534-8A35-C42D-82E1-26C182DB369D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GB" sz="1400" b="1">
                <a:solidFill>
                  <a:srgbClr val="5687CC"/>
                </a:solidFill>
                <a:latin typeface="Calibri" panose="020F0502020204030204" pitchFamily="34" charset="0"/>
              </a:rPr>
              <a:t>preprocessing/  +  app/services/onet_retriever.py</a:t>
            </a:r>
            <a:endParaRPr lang="en-IN" sz="1400" b="1">
              <a:solidFill>
                <a:srgbClr val="5687CC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B34F4C13-F176-B287-4C51-1FCCBEEE1E40}"/>
              </a:ext>
            </a:extLst>
          </p:cNvPr>
          <p:cNvCxnSpPr/>
          <p:nvPr/>
        </p:nvCxnSpPr>
        <p:spPr>
          <a:xfrm>
            <a:off x="2074333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CD7C1685-4DA9-ACE3-43E4-F028584C3EA6}"/>
              </a:ext>
            </a:extLst>
          </p:cNvPr>
          <p:cNvCxnSpPr/>
          <p:nvPr/>
        </p:nvCxnSpPr>
        <p:spPr>
          <a:xfrm>
            <a:off x="4034367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6160E318-DB6E-059A-DD32-4C3800B6BE21}"/>
              </a:ext>
            </a:extLst>
          </p:cNvPr>
          <p:cNvCxnSpPr/>
          <p:nvPr/>
        </p:nvCxnSpPr>
        <p:spPr>
          <a:xfrm>
            <a:off x="599440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1B5D8420-8E6D-018A-82A5-304709E9898C}"/>
              </a:ext>
            </a:extLst>
          </p:cNvPr>
          <p:cNvCxnSpPr/>
          <p:nvPr/>
        </p:nvCxnSpPr>
        <p:spPr>
          <a:xfrm>
            <a:off x="7954433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532211D8-1265-2F58-0E74-E3B03DD5C103}"/>
              </a:ext>
            </a:extLst>
          </p:cNvPr>
          <p:cNvCxnSpPr/>
          <p:nvPr/>
        </p:nvCxnSpPr>
        <p:spPr>
          <a:xfrm>
            <a:off x="9914467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: Rounded Corners 13">
            <a:hlinkClick r:id="" action="ppaction://noaction"/>
            <a:extLst>
              <a:ext uri="{FF2B5EF4-FFF2-40B4-BE49-F238E27FC236}">
                <a16:creationId xmlns:a16="http://schemas.microsoft.com/office/drawing/2014/main" id="{3624E49D-8BC5-2953-95C5-9ED7E2C5B6B1}"/>
              </a:ext>
            </a:extLst>
          </p:cNvPr>
          <p:cNvSpPr/>
          <p:nvPr/>
        </p:nvSpPr>
        <p:spPr>
          <a:xfrm>
            <a:off x="330200" y="2095500"/>
            <a:ext cx="1731433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7D1EF7C0-D8F8-2679-E04A-864624CD87CC}"/>
              </a:ext>
            </a:extLst>
          </p:cNvPr>
          <p:cNvSpPr txBox="1"/>
          <p:nvPr/>
        </p:nvSpPr>
        <p:spPr>
          <a:xfrm>
            <a:off x="419100" y="2159000"/>
            <a:ext cx="1553633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RAW TABLES</a:t>
            </a:r>
          </a:p>
        </p:txBody>
      </p:sp>
      <p:sp>
        <p:nvSpPr>
          <p:cNvPr id="16" name="TextBox 15">
            <a:hlinkClick r:id="" action="ppaction://noaction"/>
            <a:extLst>
              <a:ext uri="{FF2B5EF4-FFF2-40B4-BE49-F238E27FC236}">
                <a16:creationId xmlns:a16="http://schemas.microsoft.com/office/drawing/2014/main" id="{6A9A63C4-5AF6-F0CB-D989-404D6CA99790}"/>
              </a:ext>
            </a:extLst>
          </p:cNvPr>
          <p:cNvSpPr txBox="1"/>
          <p:nvPr/>
        </p:nvSpPr>
        <p:spPr>
          <a:xfrm>
            <a:off x="419100" y="2476500"/>
            <a:ext cx="1553633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Occupation, tasks,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skills, education</a:t>
            </a:r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988E777A-9D08-8936-F15F-6260DF734088}"/>
              </a:ext>
            </a:extLst>
          </p:cNvPr>
          <p:cNvSpPr/>
          <p:nvPr/>
        </p:nvSpPr>
        <p:spPr>
          <a:xfrm>
            <a:off x="2290233" y="2095500"/>
            <a:ext cx="1731434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76DA787-8D3B-A831-72D9-EACF6D3280E7}"/>
              </a:ext>
            </a:extLst>
          </p:cNvPr>
          <p:cNvSpPr txBox="1"/>
          <p:nvPr/>
        </p:nvSpPr>
        <p:spPr>
          <a:xfrm>
            <a:off x="2379133" y="2159000"/>
            <a:ext cx="1553633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CLEAN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82B5722-5C46-A4FC-83C6-44AB847F737F}"/>
              </a:ext>
            </a:extLst>
          </p:cNvPr>
          <p:cNvSpPr txBox="1"/>
          <p:nvPr/>
        </p:nvSpPr>
        <p:spPr>
          <a:xfrm>
            <a:off x="2379133" y="2476500"/>
            <a:ext cx="1553633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Normalize titles, tasks,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technologies and scores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CF294E21-5716-DD5A-75C4-11FE32C5FBB4}"/>
              </a:ext>
            </a:extLst>
          </p:cNvPr>
          <p:cNvSpPr/>
          <p:nvPr/>
        </p:nvSpPr>
        <p:spPr>
          <a:xfrm>
            <a:off x="4250267" y="2095500"/>
            <a:ext cx="1731433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640CEF38-6ED2-624D-FE0E-1B7CE2038FAB}"/>
              </a:ext>
            </a:extLst>
          </p:cNvPr>
          <p:cNvSpPr txBox="1"/>
          <p:nvPr/>
        </p:nvSpPr>
        <p:spPr>
          <a:xfrm>
            <a:off x="4339167" y="2159000"/>
            <a:ext cx="1553633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PROFILES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E988F88-D176-135E-7172-6A249CCB76CF}"/>
              </a:ext>
            </a:extLst>
          </p:cNvPr>
          <p:cNvSpPr txBox="1"/>
          <p:nvPr/>
        </p:nvSpPr>
        <p:spPr>
          <a:xfrm>
            <a:off x="4339167" y="2476500"/>
            <a:ext cx="1553633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fr-FR" sz="1050">
                <a:solidFill>
                  <a:srgbClr val="263746"/>
                </a:solidFill>
                <a:latin typeface="Calibri" panose="020F0502020204030204" pitchFamily="34" charset="0"/>
              </a:rPr>
              <a:t>Join on SOC code;</a:t>
            </a:r>
          </a:p>
          <a:p>
            <a:pPr algn="ctr"/>
            <a:r>
              <a:rPr lang="fr-FR" sz="1050">
                <a:solidFill>
                  <a:srgbClr val="263746"/>
                </a:solidFill>
                <a:latin typeface="Calibri" panose="020F0502020204030204" pitchFamily="34" charset="0"/>
              </a:rPr>
              <a:t>1,016 profiles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66032620-C451-A5BF-ACBA-9E69E247E885}"/>
              </a:ext>
            </a:extLst>
          </p:cNvPr>
          <p:cNvSpPr/>
          <p:nvPr/>
        </p:nvSpPr>
        <p:spPr>
          <a:xfrm>
            <a:off x="6210300" y="2095500"/>
            <a:ext cx="1731433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91E0C02E-F953-0292-2BB2-9018BE521A0B}"/>
              </a:ext>
            </a:extLst>
          </p:cNvPr>
          <p:cNvSpPr txBox="1"/>
          <p:nvPr/>
        </p:nvSpPr>
        <p:spPr>
          <a:xfrm>
            <a:off x="6299200" y="2159000"/>
            <a:ext cx="1553633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DOCUMENTS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FE71E88B-A9F9-E3AA-4975-B901C33DBA0D}"/>
              </a:ext>
            </a:extLst>
          </p:cNvPr>
          <p:cNvSpPr txBox="1"/>
          <p:nvPr/>
        </p:nvSpPr>
        <p:spPr>
          <a:xfrm>
            <a:off x="6299200" y="2476500"/>
            <a:ext cx="1553633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7,397 semantic docs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with metadata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59FF549-691E-6AF3-151B-AF3D33AD53E5}"/>
              </a:ext>
            </a:extLst>
          </p:cNvPr>
          <p:cNvSpPr/>
          <p:nvPr/>
        </p:nvSpPr>
        <p:spPr>
          <a:xfrm>
            <a:off x="8170333" y="2095500"/>
            <a:ext cx="1731433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8CA10B5-165D-BFCB-0CB2-BDB4A4A06CFE}"/>
              </a:ext>
            </a:extLst>
          </p:cNvPr>
          <p:cNvSpPr txBox="1"/>
          <p:nvPr/>
        </p:nvSpPr>
        <p:spPr>
          <a:xfrm>
            <a:off x="8259233" y="2159000"/>
            <a:ext cx="1553633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EMBED + INDEX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5608C01-17F6-8F58-30F4-FC610527D6A8}"/>
              </a:ext>
            </a:extLst>
          </p:cNvPr>
          <p:cNvSpPr txBox="1"/>
          <p:nvPr/>
        </p:nvSpPr>
        <p:spPr>
          <a:xfrm>
            <a:off x="8259233" y="2476500"/>
            <a:ext cx="1553633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nomic-embed-text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-&gt; FAISS vectors</a:t>
            </a:r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0ED34BE4-977D-D8CC-5E98-BD7C0D02CCDB}"/>
              </a:ext>
            </a:extLst>
          </p:cNvPr>
          <p:cNvSpPr/>
          <p:nvPr/>
        </p:nvSpPr>
        <p:spPr>
          <a:xfrm>
            <a:off x="10130367" y="2095500"/>
            <a:ext cx="1731433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8666AC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F0C31DE-8887-9F98-0E88-ADD02926E7CB}"/>
              </a:ext>
            </a:extLst>
          </p:cNvPr>
          <p:cNvSpPr txBox="1"/>
          <p:nvPr/>
        </p:nvSpPr>
        <p:spPr>
          <a:xfrm>
            <a:off x="10219267" y="2159000"/>
            <a:ext cx="1553633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8666AC"/>
                </a:solidFill>
                <a:latin typeface="Calibri" panose="020F0502020204030204" pitchFamily="34" charset="0"/>
              </a:rPr>
              <a:t>SEARCH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BF82FDBC-24EC-5F95-CBC4-914B3876E941}"/>
              </a:ext>
            </a:extLst>
          </p:cNvPr>
          <p:cNvSpPr txBox="1"/>
          <p:nvPr/>
        </p:nvSpPr>
        <p:spPr>
          <a:xfrm>
            <a:off x="10219267" y="2476500"/>
            <a:ext cx="1553633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Query embedding -&gt;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nearest occupations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42F01333-C079-3D95-2A91-32A0C51B2340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Offline preparation is separate from per-candidate processing. Runtime search verifies FAISS vector and metadata counts.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33" name="Rectangle: Rounded Corners 32">
            <a:hlinkClick r:id="rId2" action="ppaction://hlinksldjump"/>
            <a:extLst>
              <a:ext uri="{FF2B5EF4-FFF2-40B4-BE49-F238E27FC236}">
                <a16:creationId xmlns:a16="http://schemas.microsoft.com/office/drawing/2014/main" id="{EF80F7A0-1CF2-67F8-D80D-F497E6CC17B8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468037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Interview Question Generation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316744C-A8EA-A9F0-9CE5-31CA0BC8115E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IN" sz="1400" b="1">
                <a:solidFill>
                  <a:srgbClr val="5687CC"/>
                </a:solidFill>
                <a:latin typeface="Calibri" panose="020F0502020204030204" pitchFamily="34" charset="0"/>
              </a:rPr>
              <a:t>app/agents/interview_agent.py  |  Ollama llama3.2:3b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04E8B5F5-1F0F-C45D-D4FC-D19921F40F57}"/>
              </a:ext>
            </a:extLst>
          </p:cNvPr>
          <p:cNvCxnSpPr/>
          <p:nvPr/>
        </p:nvCxnSpPr>
        <p:spPr>
          <a:xfrm>
            <a:off x="246634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6F9CD36D-E453-00FF-C198-F5B6D9D9828C}"/>
              </a:ext>
            </a:extLst>
          </p:cNvPr>
          <p:cNvCxnSpPr/>
          <p:nvPr/>
        </p:nvCxnSpPr>
        <p:spPr>
          <a:xfrm>
            <a:off x="481838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8E3151CA-7C38-1614-46D9-571656CF964E}"/>
              </a:ext>
            </a:extLst>
          </p:cNvPr>
          <p:cNvCxnSpPr/>
          <p:nvPr/>
        </p:nvCxnSpPr>
        <p:spPr>
          <a:xfrm>
            <a:off x="717042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CF47B421-2399-9F19-B677-DFB7700557B9}"/>
              </a:ext>
            </a:extLst>
          </p:cNvPr>
          <p:cNvCxnSpPr/>
          <p:nvPr/>
        </p:nvCxnSpPr>
        <p:spPr>
          <a:xfrm>
            <a:off x="952246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hlinkClick r:id="" action="ppaction://noaction"/>
            <a:extLst>
              <a:ext uri="{FF2B5EF4-FFF2-40B4-BE49-F238E27FC236}">
                <a16:creationId xmlns:a16="http://schemas.microsoft.com/office/drawing/2014/main" id="{B7C8E582-6E07-942F-CDBD-ED24B0207EED}"/>
              </a:ext>
            </a:extLst>
          </p:cNvPr>
          <p:cNvSpPr/>
          <p:nvPr/>
        </p:nvSpPr>
        <p:spPr>
          <a:xfrm>
            <a:off x="33020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E39D073E-BD6F-D471-10C5-4E129C94E3C2}"/>
              </a:ext>
            </a:extLst>
          </p:cNvPr>
          <p:cNvSpPr txBox="1"/>
          <p:nvPr/>
        </p:nvSpPr>
        <p:spPr>
          <a:xfrm>
            <a:off x="41910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CONTEXT</a:t>
            </a:r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EF723063-C088-5322-2DA9-571074E34A15}"/>
              </a:ext>
            </a:extLst>
          </p:cNvPr>
          <p:cNvSpPr txBox="1"/>
          <p:nvPr/>
        </p:nvSpPr>
        <p:spPr>
          <a:xfrm>
            <a:off x="41910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Job profile + candidate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profile + experience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CF2D4B61-763D-386D-9552-A591BD1C866B}"/>
              </a:ext>
            </a:extLst>
          </p:cNvPr>
          <p:cNvSpPr/>
          <p:nvPr/>
        </p:nvSpPr>
        <p:spPr>
          <a:xfrm>
            <a:off x="268224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A677C30-C92E-13CC-4112-AFC7B4223F4C}"/>
              </a:ext>
            </a:extLst>
          </p:cNvPr>
          <p:cNvSpPr txBox="1"/>
          <p:nvPr/>
        </p:nvSpPr>
        <p:spPr>
          <a:xfrm>
            <a:off x="277114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GENERATE 6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5A9AA4E-5096-B486-0865-0921B65B7093}"/>
              </a:ext>
            </a:extLst>
          </p:cNvPr>
          <p:cNvSpPr txBox="1"/>
          <p:nvPr/>
        </p:nvSpPr>
        <p:spPr>
          <a:xfrm>
            <a:off x="277114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3 technical | 2 project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| 1 behavioral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46B1E6B-1F6A-CD0A-68B7-975755CB3335}"/>
              </a:ext>
            </a:extLst>
          </p:cNvPr>
          <p:cNvSpPr/>
          <p:nvPr/>
        </p:nvSpPr>
        <p:spPr>
          <a:xfrm>
            <a:off x="503428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19FEA46-52FE-59AC-4B17-DB5DAFD0A280}"/>
              </a:ext>
            </a:extLst>
          </p:cNvPr>
          <p:cNvSpPr txBox="1"/>
          <p:nvPr/>
        </p:nvSpPr>
        <p:spPr>
          <a:xfrm>
            <a:off x="512318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CHECKLIST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D83B4F9-FE9E-1C42-13BF-87AEEC55D565}"/>
              </a:ext>
            </a:extLst>
          </p:cNvPr>
          <p:cNvSpPr txBox="1"/>
          <p:nvPr/>
        </p:nvSpPr>
        <p:spPr>
          <a:xfrm>
            <a:off x="512318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2 expected concepts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+ 3 criteria each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10E01A8-68AE-B488-74B6-C3B224E56917}"/>
              </a:ext>
            </a:extLst>
          </p:cNvPr>
          <p:cNvSpPr/>
          <p:nvPr/>
        </p:nvSpPr>
        <p:spPr>
          <a:xfrm>
            <a:off x="738632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8E1A980F-D13A-64E0-AD39-62ABD9A847D2}"/>
              </a:ext>
            </a:extLst>
          </p:cNvPr>
          <p:cNvSpPr txBox="1"/>
          <p:nvPr/>
        </p:nvSpPr>
        <p:spPr>
          <a:xfrm>
            <a:off x="747522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VALIDATE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E4B2D6EA-EDED-AB6C-8736-56CC3D4350FD}"/>
              </a:ext>
            </a:extLst>
          </p:cNvPr>
          <p:cNvSpPr txBox="1"/>
          <p:nvPr/>
        </p:nvSpPr>
        <p:spPr>
          <a:xfrm>
            <a:off x="747522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Category, counts, duplicates,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difficulty; retry invalid JSON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D27F4E15-F236-E108-0CE2-906EE4DA9215}"/>
              </a:ext>
            </a:extLst>
          </p:cNvPr>
          <p:cNvSpPr/>
          <p:nvPr/>
        </p:nvSpPr>
        <p:spPr>
          <a:xfrm>
            <a:off x="973836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FDF6FD9-83E1-DC93-8A09-33D59ECE4093}"/>
              </a:ext>
            </a:extLst>
          </p:cNvPr>
          <p:cNvSpPr txBox="1"/>
          <p:nvPr/>
        </p:nvSpPr>
        <p:spPr>
          <a:xfrm>
            <a:off x="982726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INTERVIEWER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66E5A3A-9955-76CA-C633-BB8D9DF80A3D}"/>
              </a:ext>
            </a:extLst>
          </p:cNvPr>
          <p:cNvSpPr txBox="1"/>
          <p:nvPr/>
        </p:nvSpPr>
        <p:spPr>
          <a:xfrm>
            <a:off x="982726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Reviews accuracy; asks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follow-up questions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9A7168F-22D5-5253-A3AD-E0F0D5610595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The model output is advisory. Validate role relevance and technical accuracy; expected concepts are guidance, not a fixed answer key.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hlinkClick r:id="rId2" action="ppaction://hlinksldjump"/>
            <a:extLst>
              <a:ext uri="{FF2B5EF4-FFF2-40B4-BE49-F238E27FC236}">
                <a16:creationId xmlns:a16="http://schemas.microsoft.com/office/drawing/2014/main" id="{E53521C9-96D5-4A24-AF21-601FBAAFAB43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348995150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Interview Evaluation and Reports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6A714D-3487-BC3D-9498-8EB88C7DEF22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GB" sz="1400" b="1">
                <a:solidFill>
                  <a:srgbClr val="5687CC"/>
                </a:solidFill>
                <a:latin typeface="Calibri" panose="020F0502020204030204" pitchFamily="34" charset="0"/>
              </a:rPr>
              <a:t>app/interviewer_ui.py  +  evaluation_agent.py  +  interview_store.py</a:t>
            </a:r>
            <a:endParaRPr lang="en-IN" sz="1400" b="1">
              <a:solidFill>
                <a:srgbClr val="5687CC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8F3D5C1-793E-52EB-D7A4-A17F1B94158E}"/>
              </a:ext>
            </a:extLst>
          </p:cNvPr>
          <p:cNvCxnSpPr/>
          <p:nvPr/>
        </p:nvCxnSpPr>
        <p:spPr>
          <a:xfrm>
            <a:off x="246634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7680888-9B5F-90FB-E0B5-F160F7176746}"/>
              </a:ext>
            </a:extLst>
          </p:cNvPr>
          <p:cNvCxnSpPr/>
          <p:nvPr/>
        </p:nvCxnSpPr>
        <p:spPr>
          <a:xfrm>
            <a:off x="481838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FE86C3D8-9FAE-BF5E-E7CE-AA66E4FDB214}"/>
              </a:ext>
            </a:extLst>
          </p:cNvPr>
          <p:cNvCxnSpPr/>
          <p:nvPr/>
        </p:nvCxnSpPr>
        <p:spPr>
          <a:xfrm>
            <a:off x="717042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4D66B7FC-F452-5371-D51D-081A1202CC95}"/>
              </a:ext>
            </a:extLst>
          </p:cNvPr>
          <p:cNvCxnSpPr/>
          <p:nvPr/>
        </p:nvCxnSpPr>
        <p:spPr>
          <a:xfrm>
            <a:off x="952246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hlinkClick r:id="" action="ppaction://noaction"/>
            <a:extLst>
              <a:ext uri="{FF2B5EF4-FFF2-40B4-BE49-F238E27FC236}">
                <a16:creationId xmlns:a16="http://schemas.microsoft.com/office/drawing/2014/main" id="{B8A4315A-E3B0-53A6-E51D-E80D32BF88AB}"/>
              </a:ext>
            </a:extLst>
          </p:cNvPr>
          <p:cNvSpPr/>
          <p:nvPr/>
        </p:nvSpPr>
        <p:spPr>
          <a:xfrm>
            <a:off x="33020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124E0889-DB0F-91E6-0DA7-D009E6D77D55}"/>
              </a:ext>
            </a:extLst>
          </p:cNvPr>
          <p:cNvSpPr txBox="1"/>
          <p:nvPr/>
        </p:nvSpPr>
        <p:spPr>
          <a:xfrm>
            <a:off x="41910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ASSIGN</a:t>
            </a:r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43149246-F52C-443E-C4FD-36B27A5656A7}"/>
              </a:ext>
            </a:extLst>
          </p:cNvPr>
          <p:cNvSpPr txBox="1"/>
          <p:nvPr/>
        </p:nvSpPr>
        <p:spPr>
          <a:xfrm>
            <a:off x="41910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Recruiter selects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interviewer + round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97B5976-1C3F-C794-04BC-6B8FF86D3F81}"/>
              </a:ext>
            </a:extLst>
          </p:cNvPr>
          <p:cNvSpPr/>
          <p:nvPr/>
        </p:nvSpPr>
        <p:spPr>
          <a:xfrm>
            <a:off x="268224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357A952-D83F-04C2-23B8-789CCB4DC922}"/>
              </a:ext>
            </a:extLst>
          </p:cNvPr>
          <p:cNvSpPr txBox="1"/>
          <p:nvPr/>
        </p:nvSpPr>
        <p:spPr>
          <a:xfrm>
            <a:off x="277114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ASSESS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23EDB5-B53D-3CB3-677B-E628922CCC9E}"/>
              </a:ext>
            </a:extLst>
          </p:cNvPr>
          <p:cNvSpPr txBox="1"/>
          <p:nvPr/>
        </p:nvSpPr>
        <p:spPr>
          <a:xfrm>
            <a:off x="277114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Yes=2 | Partial=1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No=0 | Not assessed=-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F5D677F-3AA2-8B23-FF3C-ECF1436464E2}"/>
              </a:ext>
            </a:extLst>
          </p:cNvPr>
          <p:cNvSpPr/>
          <p:nvPr/>
        </p:nvSpPr>
        <p:spPr>
          <a:xfrm>
            <a:off x="503428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A0AD70F-7F2C-D2F1-E8C5-8855AEB0F7F8}"/>
              </a:ext>
            </a:extLst>
          </p:cNvPr>
          <p:cNvSpPr txBox="1"/>
          <p:nvPr/>
        </p:nvSpPr>
        <p:spPr>
          <a:xfrm>
            <a:off x="512318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SAVE DRAFT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1C7831D-C2C3-847A-0084-CB32C547F8B9}"/>
              </a:ext>
            </a:extLst>
          </p:cNvPr>
          <p:cNvSpPr txBox="1"/>
          <p:nvPr/>
        </p:nvSpPr>
        <p:spPr>
          <a:xfrm>
            <a:off x="512318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Selections persist for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interviewer session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492807DB-B5F8-294F-3622-3728DD35FB7E}"/>
              </a:ext>
            </a:extLst>
          </p:cNvPr>
          <p:cNvSpPr/>
          <p:nvPr/>
        </p:nvSpPr>
        <p:spPr>
          <a:xfrm>
            <a:off x="738632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04677C4C-FD04-CE5A-0C64-05B293078A5A}"/>
              </a:ext>
            </a:extLst>
          </p:cNvPr>
          <p:cNvSpPr txBox="1"/>
          <p:nvPr/>
        </p:nvSpPr>
        <p:spPr>
          <a:xfrm>
            <a:off x="747522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SUBMIT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DEEE2B8-312C-5486-6253-4542FD417C95}"/>
              </a:ext>
            </a:extLst>
          </p:cNvPr>
          <p:cNvSpPr txBox="1"/>
          <p:nvPr/>
        </p:nvSpPr>
        <p:spPr>
          <a:xfrm>
            <a:off x="747522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Final submission is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scoped and protected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363290B-6416-4513-E53B-A7E0D153BB80}"/>
              </a:ext>
            </a:extLst>
          </p:cNvPr>
          <p:cNvSpPr/>
          <p:nvPr/>
        </p:nvSpPr>
        <p:spPr>
          <a:xfrm>
            <a:off x="973836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09C43F2-73C2-E582-50AE-A6066CD355C0}"/>
              </a:ext>
            </a:extLst>
          </p:cNvPr>
          <p:cNvSpPr txBox="1"/>
          <p:nvPr/>
        </p:nvSpPr>
        <p:spPr>
          <a:xfrm>
            <a:off x="982726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REPORT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0C16E963-1DCE-27BE-DA14-32EC1313B267}"/>
              </a:ext>
            </a:extLst>
          </p:cNvPr>
          <p:cNvSpPr txBox="1"/>
          <p:nvPr/>
        </p:nvSpPr>
        <p:spPr>
          <a:xfrm>
            <a:off x="982726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Category + overall scores;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strengths, gaps, unassessed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2622D09-10EC-1884-87FD-E15D9EA41227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Scores weight assessed criteria equally. Not Assessed is omitted from the denominator. No hire/reject recommendation is generated.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hlinkClick r:id="rId2" action="ppaction://hlinksldjump"/>
            <a:extLst>
              <a:ext uri="{FF2B5EF4-FFF2-40B4-BE49-F238E27FC236}">
                <a16:creationId xmlns:a16="http://schemas.microsoft.com/office/drawing/2014/main" id="{B75FE093-4F91-061B-83F3-6C79DDD497E5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136619898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Recruiter and Interviewer Workspaces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D813116-EA5A-B161-B425-724CF150884B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IN" sz="1400" b="1">
                <a:solidFill>
                  <a:srgbClr val="5687CC"/>
                </a:solidFill>
                <a:latin typeface="Calibri" panose="020F0502020204030204" pitchFamily="34" charset="0"/>
              </a:rPr>
              <a:t>app/recruiter_ui.py  +  app/interviewer_ui.py  |  Streamlit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4EDE33B9-1155-4DF5-C175-F99DA85B7BBD}"/>
              </a:ext>
            </a:extLst>
          </p:cNvPr>
          <p:cNvCxnSpPr/>
          <p:nvPr/>
        </p:nvCxnSpPr>
        <p:spPr>
          <a:xfrm>
            <a:off x="246634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80C8641B-D034-7C09-B393-6FE232BAEFCD}"/>
              </a:ext>
            </a:extLst>
          </p:cNvPr>
          <p:cNvCxnSpPr/>
          <p:nvPr/>
        </p:nvCxnSpPr>
        <p:spPr>
          <a:xfrm>
            <a:off x="481838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933BD0F4-BB43-26EB-A172-793618796A4E}"/>
              </a:ext>
            </a:extLst>
          </p:cNvPr>
          <p:cNvCxnSpPr/>
          <p:nvPr/>
        </p:nvCxnSpPr>
        <p:spPr>
          <a:xfrm>
            <a:off x="717042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6BC18414-388F-C966-A6A9-9B48DC3FA226}"/>
              </a:ext>
            </a:extLst>
          </p:cNvPr>
          <p:cNvCxnSpPr/>
          <p:nvPr/>
        </p:nvCxnSpPr>
        <p:spPr>
          <a:xfrm>
            <a:off x="952246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hlinkClick r:id="" action="ppaction://noaction"/>
            <a:extLst>
              <a:ext uri="{FF2B5EF4-FFF2-40B4-BE49-F238E27FC236}">
                <a16:creationId xmlns:a16="http://schemas.microsoft.com/office/drawing/2014/main" id="{62252CB3-6B30-6253-A59C-4DF0B60CE134}"/>
              </a:ext>
            </a:extLst>
          </p:cNvPr>
          <p:cNvSpPr/>
          <p:nvPr/>
        </p:nvSpPr>
        <p:spPr>
          <a:xfrm>
            <a:off x="33020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62B7E096-F3A7-B95F-BBE5-7BB420799D7B}"/>
              </a:ext>
            </a:extLst>
          </p:cNvPr>
          <p:cNvSpPr txBox="1"/>
          <p:nvPr/>
        </p:nvSpPr>
        <p:spPr>
          <a:xfrm>
            <a:off x="41910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RECRUITER LOGIN</a:t>
            </a:r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B58DD82D-3E70-6BEA-CFA6-6CF2222CCC71}"/>
              </a:ext>
            </a:extLst>
          </p:cNvPr>
          <p:cNvSpPr txBox="1"/>
          <p:nvPr/>
        </p:nvSpPr>
        <p:spPr>
          <a:xfrm>
            <a:off x="41910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Role-checked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recruiter access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34C77B92-7315-C9B3-CA71-635845C55283}"/>
              </a:ext>
            </a:extLst>
          </p:cNvPr>
          <p:cNvSpPr/>
          <p:nvPr/>
        </p:nvSpPr>
        <p:spPr>
          <a:xfrm>
            <a:off x="268224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510905C-55EE-D5D0-ED2D-58DC43C25C78}"/>
              </a:ext>
            </a:extLst>
          </p:cNvPr>
          <p:cNvSpPr txBox="1"/>
          <p:nvPr/>
        </p:nvSpPr>
        <p:spPr>
          <a:xfrm>
            <a:off x="277114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CREATE JOB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BD7DE95-441A-63BE-E236-7465330C082C}"/>
              </a:ext>
            </a:extLst>
          </p:cNvPr>
          <p:cNvSpPr txBox="1"/>
          <p:nvPr/>
        </p:nvSpPr>
        <p:spPr>
          <a:xfrm>
            <a:off x="277114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Extract and save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vacancy profile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9E02A1D8-D8C2-0254-A9BE-F111993AF1E4}"/>
              </a:ext>
            </a:extLst>
          </p:cNvPr>
          <p:cNvSpPr/>
          <p:nvPr/>
        </p:nvSpPr>
        <p:spPr>
          <a:xfrm>
            <a:off x="503428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E9F5220-16F9-36E2-9516-B6D13EA797C1}"/>
              </a:ext>
            </a:extLst>
          </p:cNvPr>
          <p:cNvSpPr txBox="1"/>
          <p:nvPr/>
        </p:nvSpPr>
        <p:spPr>
          <a:xfrm>
            <a:off x="512318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CANDIDATES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21CC47D-556D-D7F9-00FA-24F5FDB38F50}"/>
              </a:ext>
            </a:extLst>
          </p:cNvPr>
          <p:cNvSpPr txBox="1"/>
          <p:nvPr/>
        </p:nvSpPr>
        <p:spPr>
          <a:xfrm>
            <a:off x="512318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Upload resumes;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process per job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E153560E-9B6F-8DD9-1DE6-CD661DDEC7BE}"/>
              </a:ext>
            </a:extLst>
          </p:cNvPr>
          <p:cNvSpPr/>
          <p:nvPr/>
        </p:nvSpPr>
        <p:spPr>
          <a:xfrm>
            <a:off x="738632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58AFD8C-D8F9-5C76-0F53-E651A91FB888}"/>
              </a:ext>
            </a:extLst>
          </p:cNvPr>
          <p:cNvSpPr txBox="1"/>
          <p:nvPr/>
        </p:nvSpPr>
        <p:spPr>
          <a:xfrm>
            <a:off x="747522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REVIEW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F8E2412-A40C-859F-874B-FC99001C1DAD}"/>
              </a:ext>
            </a:extLst>
          </p:cNvPr>
          <p:cNvSpPr txBox="1"/>
          <p:nvPr/>
        </p:nvSpPr>
        <p:spPr>
          <a:xfrm>
            <a:off x="747522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Search, filters,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evidence and gaps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AE72636A-4C2F-3274-BED8-0596003DFD34}"/>
              </a:ext>
            </a:extLst>
          </p:cNvPr>
          <p:cNvSpPr/>
          <p:nvPr/>
        </p:nvSpPr>
        <p:spPr>
          <a:xfrm>
            <a:off x="973836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4820B74F-F88D-51EC-1E33-CAA809DDF1D6}"/>
              </a:ext>
            </a:extLst>
          </p:cNvPr>
          <p:cNvSpPr txBox="1"/>
          <p:nvPr/>
        </p:nvSpPr>
        <p:spPr>
          <a:xfrm>
            <a:off x="982726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ASSIGN + REPORT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EB08BEB-AD47-4CBC-595D-07B458393508}"/>
              </a:ext>
            </a:extLst>
          </p:cNvPr>
          <p:cNvSpPr txBox="1"/>
          <p:nvPr/>
        </p:nvSpPr>
        <p:spPr>
          <a:xfrm>
            <a:off x="982726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Choose interviewer;</a:t>
            </a:r>
          </a:p>
          <a:p>
            <a:pPr algn="ctr"/>
            <a:r>
              <a:rPr lang="en-GB" sz="1050">
                <a:solidFill>
                  <a:srgbClr val="263746"/>
                </a:solidFill>
                <a:latin typeface="Calibri" panose="020F0502020204030204" pitchFamily="34" charset="0"/>
              </a:rPr>
              <a:t>view/export reports</a:t>
            </a:r>
            <a:endParaRPr lang="en-IN" sz="1050">
              <a:solidFill>
                <a:srgbClr val="263746"/>
              </a:solidFill>
              <a:latin typeface="Calibri" panose="020F0502020204030204" pitchFamily="34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E21EE2-CA56-31A9-5064-0A729E8A74BC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Recruiter sections: Create Job, Jobs, Candidates, Review, Reports, and User Management. Interviewers work in assigned sessions, save drafts, review and submit evaluations.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hlinkClick r:id="rId2" action="ppaction://hlinksldjump"/>
            <a:extLst>
              <a:ext uri="{FF2B5EF4-FFF2-40B4-BE49-F238E27FC236}">
                <a16:creationId xmlns:a16="http://schemas.microsoft.com/office/drawing/2014/main" id="{92137F31-250D-CFFD-CB07-057549FB34FB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6453296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461665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lvl="0">
              <a:defRPr/>
            </a:pPr>
            <a:r>
              <a:rPr lang="en-US" sz="2400" b="1">
                <a:solidFill>
                  <a:srgbClr val="175481"/>
                </a:solidFill>
                <a:latin typeface="Calibri" panose="020F0502020204030204" pitchFamily="34" charset="0"/>
              </a:rPr>
              <a:t>Persistence, Authentication, and Services</a:t>
            </a:r>
            <a:endParaRPr kumimoji="0" lang="en-US" sz="2400" b="1" i="0" u="none" strike="noStrike" kern="1200" cap="none" spc="0" normalizeH="0" baseline="0" noProof="0" dirty="0">
              <a:ln>
                <a:noFill/>
              </a:ln>
              <a:solidFill>
                <a:srgbClr val="175481"/>
              </a:solidFill>
              <a:effectLst/>
              <a:uLnTx/>
              <a:uFillTx/>
              <a:latin typeface="Calibri" panose="020F0502020204030204" pitchFamily="34" charset="0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6093893" y="57036"/>
            <a:ext cx="6098107" cy="307777"/>
          </a:xfrm>
          <a:prstGeom prst="rect">
            <a:avLst/>
          </a:prstGeom>
          <a:noFill/>
        </p:spPr>
        <p:txBody>
          <a:bodyPr wrap="square" lIns="63500" tIns="38100" rIns="63500" bIns="38100" rtlCol="0">
            <a:spAutoFit/>
          </a:bodyPr>
          <a:lstStyle/>
          <a:p>
            <a:pPr algn="r"/>
            <a:r>
              <a:rPr lang="en-GB" sz="1500" b="1" i="1">
                <a:solidFill>
                  <a:srgbClr val="FFFFFF"/>
                </a:solidFill>
                <a:latin typeface="Calibri" panose="020F0502020204030204" pitchFamily="34" charset="0"/>
              </a:rPr>
              <a:t>Project Title - Candidate Search and Filtering</a:t>
            </a:r>
            <a:endParaRPr lang="en-US" sz="1500" b="1" dirty="0">
              <a:solidFill>
                <a:srgbClr val="FFFFFF"/>
              </a:solidFill>
              <a:latin typeface="Calibri" panose="020F050202020403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DEB779-883A-B064-6C37-450999AE6FAD}"/>
              </a:ext>
            </a:extLst>
          </p:cNvPr>
          <p:cNvSpPr txBox="1"/>
          <p:nvPr/>
        </p:nvSpPr>
        <p:spPr>
          <a:xfrm>
            <a:off x="317500" y="1333500"/>
            <a:ext cx="11430000" cy="29238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r>
              <a:rPr lang="en-GB" sz="1400" b="1">
                <a:solidFill>
                  <a:srgbClr val="5687CC"/>
                </a:solidFill>
                <a:latin typeface="Calibri" panose="020F0502020204030204" pitchFamily="34" charset="0"/>
              </a:rPr>
              <a:t>app/*_store.py  +  app/services/  +  app/create_user.py</a:t>
            </a:r>
            <a:endParaRPr lang="en-IN" sz="1400" b="1">
              <a:solidFill>
                <a:srgbClr val="5687CC"/>
              </a:solidFill>
              <a:latin typeface="Calibri" panose="020F0502020204030204" pitchFamily="34" charset="0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5FE64134-4885-8566-370D-A42EA883A405}"/>
              </a:ext>
            </a:extLst>
          </p:cNvPr>
          <p:cNvCxnSpPr/>
          <p:nvPr/>
        </p:nvCxnSpPr>
        <p:spPr>
          <a:xfrm>
            <a:off x="246634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AC81857A-60E0-1710-7788-12941A1B920A}"/>
              </a:ext>
            </a:extLst>
          </p:cNvPr>
          <p:cNvCxnSpPr/>
          <p:nvPr/>
        </p:nvCxnSpPr>
        <p:spPr>
          <a:xfrm>
            <a:off x="481838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0EB8E91-A8D9-7C3E-D122-36708E4A9A54}"/>
              </a:ext>
            </a:extLst>
          </p:cNvPr>
          <p:cNvCxnSpPr/>
          <p:nvPr/>
        </p:nvCxnSpPr>
        <p:spPr>
          <a:xfrm>
            <a:off x="717042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9081CE59-C3B0-5494-2206-E12753FB5EE7}"/>
              </a:ext>
            </a:extLst>
          </p:cNvPr>
          <p:cNvCxnSpPr/>
          <p:nvPr/>
        </p:nvCxnSpPr>
        <p:spPr>
          <a:xfrm>
            <a:off x="9522460" y="2781300"/>
            <a:ext cx="190500" cy="0"/>
          </a:xfrm>
          <a:prstGeom prst="straightConnector1">
            <a:avLst/>
          </a:prstGeom>
          <a:ln w="25400">
            <a:solidFill>
              <a:srgbClr val="39AFC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Rectangle: Rounded Corners 12">
            <a:hlinkClick r:id="" action="ppaction://noaction"/>
            <a:extLst>
              <a:ext uri="{FF2B5EF4-FFF2-40B4-BE49-F238E27FC236}">
                <a16:creationId xmlns:a16="http://schemas.microsoft.com/office/drawing/2014/main" id="{128084FC-DDE7-A633-33FD-4CA25A45E338}"/>
              </a:ext>
            </a:extLst>
          </p:cNvPr>
          <p:cNvSpPr/>
          <p:nvPr/>
        </p:nvSpPr>
        <p:spPr>
          <a:xfrm>
            <a:off x="33020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20A9D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4" name="TextBox 13">
            <a:hlinkClick r:id="" action="ppaction://noaction"/>
            <a:extLst>
              <a:ext uri="{FF2B5EF4-FFF2-40B4-BE49-F238E27FC236}">
                <a16:creationId xmlns:a16="http://schemas.microsoft.com/office/drawing/2014/main" id="{44F46232-4CFA-5038-079B-AB513DFDB197}"/>
              </a:ext>
            </a:extLst>
          </p:cNvPr>
          <p:cNvSpPr txBox="1"/>
          <p:nvPr/>
        </p:nvSpPr>
        <p:spPr>
          <a:xfrm>
            <a:off x="41910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20A9D2"/>
                </a:solidFill>
                <a:latin typeface="Calibri" panose="020F0502020204030204" pitchFamily="34" charset="0"/>
              </a:rPr>
              <a:t>RECRUITMENT STORE</a:t>
            </a:r>
          </a:p>
        </p:txBody>
      </p:sp>
      <p:sp>
        <p:nvSpPr>
          <p:cNvPr id="15" name="TextBox 14">
            <a:hlinkClick r:id="" action="ppaction://noaction"/>
            <a:extLst>
              <a:ext uri="{FF2B5EF4-FFF2-40B4-BE49-F238E27FC236}">
                <a16:creationId xmlns:a16="http://schemas.microsoft.com/office/drawing/2014/main" id="{DCE75789-0143-9ABE-94A3-F428E9EDF06F}"/>
              </a:ext>
            </a:extLst>
          </p:cNvPr>
          <p:cNvSpPr txBox="1"/>
          <p:nvPr/>
        </p:nvSpPr>
        <p:spPr>
          <a:xfrm>
            <a:off x="41910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Jobs, candidates,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hash, matches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74916352-6FDC-578A-9192-CA7C53EC7143}"/>
              </a:ext>
            </a:extLst>
          </p:cNvPr>
          <p:cNvSpPr/>
          <p:nvPr/>
        </p:nvSpPr>
        <p:spPr>
          <a:xfrm>
            <a:off x="268224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43B3A9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051A790-69F4-CF12-6D9E-41E752D8D8D5}"/>
              </a:ext>
            </a:extLst>
          </p:cNvPr>
          <p:cNvSpPr txBox="1"/>
          <p:nvPr/>
        </p:nvSpPr>
        <p:spPr>
          <a:xfrm>
            <a:off x="277114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43B3A9"/>
                </a:solidFill>
                <a:latin typeface="Calibri" panose="020F0502020204030204" pitchFamily="34" charset="0"/>
              </a:rPr>
              <a:t>INTERVIEW STORE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6DB8D9-4E14-C2ED-1260-EFF3C867F372}"/>
              </a:ext>
            </a:extLst>
          </p:cNvPr>
          <p:cNvSpPr txBox="1"/>
          <p:nvPr/>
        </p:nvSpPr>
        <p:spPr>
          <a:xfrm>
            <a:off x="277114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Sessions, questions,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drafts, reports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BD7D1C50-726E-82B2-74A2-5A4A952DC0D4}"/>
              </a:ext>
            </a:extLst>
          </p:cNvPr>
          <p:cNvSpPr/>
          <p:nvPr/>
        </p:nvSpPr>
        <p:spPr>
          <a:xfrm>
            <a:off x="503428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31628D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43C57D-CE35-D752-B7E9-D10A754A8136}"/>
              </a:ext>
            </a:extLst>
          </p:cNvPr>
          <p:cNvSpPr txBox="1"/>
          <p:nvPr/>
        </p:nvSpPr>
        <p:spPr>
          <a:xfrm>
            <a:off x="512318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31628D"/>
                </a:solidFill>
                <a:latin typeface="Calibri" panose="020F0502020204030204" pitchFamily="34" charset="0"/>
              </a:rPr>
              <a:t>AUTH STORE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CA4531F-4015-4A0C-A061-B1EC9CAEEFA6}"/>
              </a:ext>
            </a:extLst>
          </p:cNvPr>
          <p:cNvSpPr txBox="1"/>
          <p:nvPr/>
        </p:nvSpPr>
        <p:spPr>
          <a:xfrm>
            <a:off x="512318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Roles, passwords,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active users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7862F54A-A7E1-DBB2-A92F-4A18D4F0DC97}"/>
              </a:ext>
            </a:extLst>
          </p:cNvPr>
          <p:cNvSpPr/>
          <p:nvPr/>
        </p:nvSpPr>
        <p:spPr>
          <a:xfrm>
            <a:off x="738632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69B76A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AB4ECD2-251A-6B1E-ACE9-6547ED21A15C}"/>
              </a:ext>
            </a:extLst>
          </p:cNvPr>
          <p:cNvSpPr txBox="1"/>
          <p:nvPr/>
        </p:nvSpPr>
        <p:spPr>
          <a:xfrm>
            <a:off x="747522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69B76A"/>
                </a:solidFill>
                <a:latin typeface="Calibri" panose="020F0502020204030204" pitchFamily="34" charset="0"/>
              </a:rPr>
              <a:t>CHECKPOINTS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15A56CB-4CE1-C3CF-1457-6566DB47FBFE}"/>
              </a:ext>
            </a:extLst>
          </p:cNvPr>
          <p:cNvSpPr txBox="1"/>
          <p:nvPr/>
        </p:nvSpPr>
        <p:spPr>
          <a:xfrm>
            <a:off x="747522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LangGraph state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and history</a:t>
            </a:r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4AE9B9DC-A8B3-FFCE-EA7B-97B8649A00CD}"/>
              </a:ext>
            </a:extLst>
          </p:cNvPr>
          <p:cNvSpPr/>
          <p:nvPr/>
        </p:nvSpPr>
        <p:spPr>
          <a:xfrm>
            <a:off x="9738360" y="2095500"/>
            <a:ext cx="2123440" cy="1371600"/>
          </a:xfrm>
          <a:prstGeom prst="roundRect">
            <a:avLst/>
          </a:prstGeom>
          <a:solidFill>
            <a:srgbClr val="F0F8FB"/>
          </a:solidFill>
          <a:ln w="19050">
            <a:solidFill>
              <a:srgbClr val="E19B47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063A507-F78B-DE5C-3262-73C17D61CEB4}"/>
              </a:ext>
            </a:extLst>
          </p:cNvPr>
          <p:cNvSpPr txBox="1"/>
          <p:nvPr/>
        </p:nvSpPr>
        <p:spPr>
          <a:xfrm>
            <a:off x="9827260" y="2159000"/>
            <a:ext cx="1945640" cy="284693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350" b="1">
                <a:solidFill>
                  <a:srgbClr val="E19B47"/>
                </a:solidFill>
                <a:latin typeface="Calibri" panose="020F0502020204030204" pitchFamily="34" charset="0"/>
              </a:rPr>
              <a:t>SUPPORT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A5C3F8EA-F74D-1AF7-D696-4D3ECB2693FB}"/>
              </a:ext>
            </a:extLst>
          </p:cNvPr>
          <p:cNvSpPr txBox="1"/>
          <p:nvPr/>
        </p:nvSpPr>
        <p:spPr>
          <a:xfrm>
            <a:off x="9827260" y="2476500"/>
            <a:ext cx="1945640" cy="415498"/>
          </a:xfrm>
          <a:prstGeom prst="rect">
            <a:avLst/>
          </a:prstGeom>
          <a:noFill/>
        </p:spPr>
        <p:txBody>
          <a:bodyPr vert="horz" wrap="square" lIns="63500" tIns="38100" rIns="63500" bIns="38100" rtlCol="0">
            <a:spAutoFit/>
          </a:bodyPr>
          <a:lstStyle/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Resume parser, O*NET</a:t>
            </a:r>
          </a:p>
          <a:p>
            <a:pPr algn="ctr"/>
            <a:r>
              <a:rPr lang="en-IN" sz="1050">
                <a:solidFill>
                  <a:srgbClr val="263746"/>
                </a:solidFill>
                <a:latin typeface="Calibri" panose="020F0502020204030204" pitchFamily="34" charset="0"/>
              </a:rPr>
              <a:t>retriever, SMTP email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8FAA53B9-EC98-25D1-6AE8-61A274863026}"/>
              </a:ext>
            </a:extLst>
          </p:cNvPr>
          <p:cNvSpPr/>
          <p:nvPr/>
        </p:nvSpPr>
        <p:spPr>
          <a:xfrm>
            <a:off x="482600" y="3873500"/>
            <a:ext cx="11226800" cy="952500"/>
          </a:xfrm>
          <a:prstGeom prst="rect">
            <a:avLst/>
          </a:prstGeom>
          <a:solidFill>
            <a:srgbClr val="F5FAFC"/>
          </a:solidFill>
          <a:ln>
            <a:solidFill>
              <a:srgbClr val="D1E8E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r>
              <a:rPr lang="en-GB" sz="1300">
                <a:solidFill>
                  <a:srgbClr val="30343B"/>
                </a:solidFill>
                <a:latin typeface="Calibri" panose="020F0502020204030204" pitchFamily="34" charset="0"/>
              </a:rPr>
              <a:t>PostgreSQL stores application records and workflow checkpoints. Ollama serves language and embedding models; SMTP is optional for assignment emails; FAISS artifacts support O*NET search.</a:t>
            </a:r>
            <a:endParaRPr lang="en-IN" sz="1300">
              <a:solidFill>
                <a:srgbClr val="30343B"/>
              </a:solidFill>
              <a:latin typeface="Calibri" panose="020F0502020204030204" pitchFamily="34" charset="0"/>
            </a:endParaRPr>
          </a:p>
        </p:txBody>
      </p:sp>
      <p:sp>
        <p:nvSpPr>
          <p:cNvPr id="29" name="Rectangle: Rounded Corners 28">
            <a:hlinkClick r:id="rId2" action="ppaction://hlinksldjump"/>
            <a:extLst>
              <a:ext uri="{FF2B5EF4-FFF2-40B4-BE49-F238E27FC236}">
                <a16:creationId xmlns:a16="http://schemas.microsoft.com/office/drawing/2014/main" id="{47B15BAB-00D3-3564-F16A-00A970C3B25A}"/>
              </a:ext>
            </a:extLst>
          </p:cNvPr>
          <p:cNvSpPr/>
          <p:nvPr/>
        </p:nvSpPr>
        <p:spPr>
          <a:xfrm>
            <a:off x="9779000" y="5207000"/>
            <a:ext cx="2095500" cy="317500"/>
          </a:xfrm>
          <a:prstGeom prst="roundRect">
            <a:avLst/>
          </a:prstGeom>
          <a:solidFill>
            <a:srgbClr val="E9F7FB"/>
          </a:solidFill>
          <a:ln>
            <a:solidFill>
              <a:srgbClr val="24AED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63500" tIns="38100" rIns="63500" bIns="38100" rtlCol="0" anchor="ctr"/>
          <a:lstStyle/>
          <a:p>
            <a:pPr algn="ctr"/>
            <a:r>
              <a:rPr lang="en-IN" sz="950" b="1" dirty="0">
                <a:solidFill>
                  <a:srgbClr val="175481"/>
                </a:solidFill>
                <a:latin typeface="Calibri" panose="020F0502020204030204" pitchFamily="34" charset="0"/>
              </a:rPr>
              <a:t>BACK TO MODULE MAP</a:t>
            </a:r>
          </a:p>
        </p:txBody>
      </p:sp>
    </p:spTree>
    <p:extLst>
      <p:ext uri="{BB962C8B-B14F-4D97-AF65-F5344CB8AC3E}">
        <p14:creationId xmlns:p14="http://schemas.microsoft.com/office/powerpoint/2010/main" val="24612389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259</TotalTime>
  <Words>1624</Words>
  <Application>Microsoft Office PowerPoint</Application>
  <PresentationFormat>Widescreen</PresentationFormat>
  <Paragraphs>282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HARI PRASATH</dc:creator>
  <cp:lastModifiedBy>Sammangi Gopi Chand</cp:lastModifiedBy>
  <cp:revision>25</cp:revision>
  <dcterms:created xsi:type="dcterms:W3CDTF">2024-05-13T10:33:11Z</dcterms:created>
  <dcterms:modified xsi:type="dcterms:W3CDTF">2026-10-10T11:23:05Z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ac52bb50-aef2-4dc8-bb7f-e0da22648362_Enabled">
    <vt:lpwstr>true</vt:lpwstr>
  </property>
  <property fmtid="{D5CDD505-2E9C-101B-9397-08002B2CF9AE}" pid="3" name="MSIP_Label_ac52bb50-aef2-4dc8-bb7f-e0da22648362_SetDate">
    <vt:lpwstr>2025-08-25T08:11:33Z</vt:lpwstr>
  </property>
  <property fmtid="{D5CDD505-2E9C-101B-9397-08002B2CF9AE}" pid="4" name="MSIP_Label_ac52bb50-aef2-4dc8-bb7f-e0da22648362_Method">
    <vt:lpwstr>Standard</vt:lpwstr>
  </property>
  <property fmtid="{D5CDD505-2E9C-101B-9397-08002B2CF9AE}" pid="5" name="MSIP_Label_ac52bb50-aef2-4dc8-bb7f-e0da22648362_Name">
    <vt:lpwstr>ac52bb50-aef2-4dc8-bb7f-e0da22648362</vt:lpwstr>
  </property>
  <property fmtid="{D5CDD505-2E9C-101B-9397-08002B2CF9AE}" pid="6" name="MSIP_Label_ac52bb50-aef2-4dc8-bb7f-e0da22648362_SiteId">
    <vt:lpwstr>264b9899-fe1b-430b-9509-2154878d5774</vt:lpwstr>
  </property>
  <property fmtid="{D5CDD505-2E9C-101B-9397-08002B2CF9AE}" pid="7" name="MSIP_Label_ac52bb50-aef2-4dc8-bb7f-e0da22648362_ActionId">
    <vt:lpwstr>5a5317b9-6049-4f38-9ea6-5786aca62bc4</vt:lpwstr>
  </property>
  <property fmtid="{D5CDD505-2E9C-101B-9397-08002B2CF9AE}" pid="8" name="MSIP_Label_ac52bb50-aef2-4dc8-bb7f-e0da22648362_ContentBits">
    <vt:lpwstr>2</vt:lpwstr>
  </property>
  <property fmtid="{D5CDD505-2E9C-101B-9397-08002B2CF9AE}" pid="9" name="MSIP_Label_ac52bb50-aef2-4dc8-bb7f-e0da22648362_Tag">
    <vt:lpwstr>10, 3, 0, 1</vt:lpwstr>
  </property>
  <property fmtid="{D5CDD505-2E9C-101B-9397-08002B2CF9AE}" pid="10" name="ClassificationContentMarkingFooterLocations">
    <vt:lpwstr>1_Office Theme:8</vt:lpwstr>
  </property>
  <property fmtid="{D5CDD505-2E9C-101B-9397-08002B2CF9AE}" pid="11" name="ClassificationContentMarkingFooterText">
    <vt:lpwstr>Sensitivity: LNT Construction Internal Use</vt:lpwstr>
  </property>
</Properties>
</file>